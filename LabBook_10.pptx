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56" r:id="rId2"/>
    <p:sldId id="295" r:id="rId3"/>
    <p:sldId id="290" r:id="rId4"/>
    <p:sldId id="301" r:id="rId5"/>
    <p:sldId id="291" r:id="rId6"/>
    <p:sldId id="292" r:id="rId7"/>
    <p:sldId id="297" r:id="rId8"/>
    <p:sldId id="293" r:id="rId9"/>
    <p:sldId id="298" r:id="rId10"/>
    <p:sldId id="299" r:id="rId11"/>
    <p:sldId id="300" r:id="rId12"/>
    <p:sldId id="288" r:id="rId1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073079-324C-686D-E377-AE188C938643}" v="1672" dt="2026-03-04T08:48:30.296"/>
    <p1510:client id="{F7956C2D-68D7-A3DA-E9AB-9C6146E3D14C}" v="3340" dt="2026-03-04T10:48:58.932"/>
    <p1510:client id="{FCBABDEF-E266-4B8B-B4B3-0A2F7B6D147D}" v="4" dt="2026-03-04T16:51:37.27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1.0. </a:t>
            </a:r>
            <a:r>
              <a:rPr lang="es-ES" sz="3200" b="1" err="1">
                <a:latin typeface="Lucida Sans"/>
                <a:cs typeface="Lucida Sans"/>
              </a:rPr>
              <a:t>Waveguides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piè di pagina 3">
            <a:extLst>
              <a:ext uri="{FF2B5EF4-FFF2-40B4-BE49-F238E27FC236}">
                <a16:creationId xmlns:a16="http://schemas.microsoft.com/office/drawing/2014/main" id="{A7E4943F-51F9-E642-E3CF-7103A644A213}"/>
              </a:ext>
            </a:extLst>
          </p:cNvPr>
          <p:cNvSpPr>
            <a:spLocks noGrp="1"/>
          </p:cNvSpPr>
          <p:nvPr>
            <p:ph type="ftr" sz="quarter" idx="5"/>
          </p:nvPr>
        </p:nvSpPr>
        <p:spPr/>
        <p:txBody>
          <a:bodyPr/>
          <a:lstStyle/>
          <a:p>
            <a:pPr marL="12700">
              <a:spcBef>
                <a:spcPts val="15"/>
              </a:spcBef>
            </a:pPr>
            <a:r>
              <a:rPr lang="es-ES" spc="-5"/>
              <a:t>LAB 1.0 WAVEGUIDES</a:t>
            </a:r>
          </a:p>
        </p:txBody>
      </p:sp>
      <p:sp>
        <p:nvSpPr>
          <p:cNvPr id="5" name="Segnaposto numero diapositiva 4">
            <a:extLst>
              <a:ext uri="{FF2B5EF4-FFF2-40B4-BE49-F238E27FC236}">
                <a16:creationId xmlns:a16="http://schemas.microsoft.com/office/drawing/2014/main" id="{42E04F0D-6A0F-102E-0D36-C150D47FCDC8}"/>
              </a:ext>
            </a:extLst>
          </p:cNvPr>
          <p:cNvSpPr>
            <a:spLocks noGrp="1"/>
          </p:cNvSpPr>
          <p:nvPr>
            <p:ph type="sldNum" sz="quarter" idx="7"/>
          </p:nvPr>
        </p:nvSpPr>
        <p:spPr/>
        <p:txBody>
          <a:bodyPr/>
          <a:lstStyle/>
          <a:p>
            <a:fld id="{B6F15528-21DE-4FAA-801E-634DDDAF4B2B}" type="slidenum">
              <a:rPr lang="it-IT"/>
              <a:t>4</a:t>
            </a:fld>
            <a:endParaRPr lang="it-IT"/>
          </a:p>
        </p:txBody>
      </p:sp>
      <p:sp>
        <p:nvSpPr>
          <p:cNvPr id="8" name="CasellaDiTesto 7">
            <a:extLst>
              <a:ext uri="{FF2B5EF4-FFF2-40B4-BE49-F238E27FC236}">
                <a16:creationId xmlns:a16="http://schemas.microsoft.com/office/drawing/2014/main" id="{E832D38B-260B-56EC-0A8B-509CE035EBF1}"/>
              </a:ext>
            </a:extLst>
          </p:cNvPr>
          <p:cNvSpPr txBox="1"/>
          <p:nvPr/>
        </p:nvSpPr>
        <p:spPr>
          <a:xfrm>
            <a:off x="934764" y="4222676"/>
            <a:ext cx="1080529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dirty="0">
                <a:latin typeface="Arial"/>
                <a:ea typeface="Calibri"/>
                <a:cs typeface="Arial"/>
              </a:rPr>
              <a:t>The </a:t>
            </a:r>
            <a:r>
              <a:rPr lang="it-IT" dirty="0" err="1">
                <a:latin typeface="Arial"/>
                <a:ea typeface="Calibri"/>
                <a:cs typeface="Arial"/>
              </a:rPr>
              <a:t>effective</a:t>
            </a:r>
            <a:r>
              <a:rPr lang="it-IT" dirty="0">
                <a:latin typeface="Arial"/>
                <a:ea typeface="Calibri"/>
                <a:cs typeface="Arial"/>
              </a:rPr>
              <a:t> indexes are: for TE0 1.605, for TM0 1.528, for TE1 1.450, for TM1 mode 1.433.</a:t>
            </a:r>
          </a:p>
          <a:p>
            <a:r>
              <a:rPr lang="it-IT" dirty="0" err="1">
                <a:latin typeface="Arial"/>
                <a:ea typeface="Calibri"/>
                <a:cs typeface="Arial"/>
              </a:rPr>
              <a:t>Because</a:t>
            </a:r>
            <a:r>
              <a:rPr lang="it-IT" dirty="0">
                <a:latin typeface="Arial"/>
                <a:ea typeface="Calibri"/>
                <a:cs typeface="Arial"/>
              </a:rPr>
              <a:t> the indexes for TE and TM 1 </a:t>
            </a:r>
            <a:r>
              <a:rPr lang="it-IT" dirty="0" err="1">
                <a:latin typeface="Arial"/>
                <a:ea typeface="Calibri"/>
                <a:cs typeface="Arial"/>
              </a:rPr>
              <a:t>modes</a:t>
            </a:r>
            <a:r>
              <a:rPr lang="it-IT" dirty="0">
                <a:latin typeface="Arial"/>
                <a:ea typeface="Calibri"/>
                <a:cs typeface="Arial"/>
              </a:rPr>
              <a:t> are </a:t>
            </a:r>
            <a:r>
              <a:rPr lang="it-IT" dirty="0" err="1">
                <a:latin typeface="Arial"/>
                <a:ea typeface="Calibri"/>
                <a:cs typeface="Arial"/>
              </a:rPr>
              <a:t>lower</a:t>
            </a:r>
            <a:r>
              <a:rPr lang="it-IT" dirty="0">
                <a:latin typeface="Arial"/>
                <a:ea typeface="Calibri"/>
                <a:cs typeface="Arial"/>
              </a:rPr>
              <a:t> </a:t>
            </a:r>
            <a:r>
              <a:rPr lang="it-IT" dirty="0" err="1">
                <a:latin typeface="Arial"/>
                <a:ea typeface="Calibri"/>
                <a:cs typeface="Arial"/>
              </a:rPr>
              <a:t>than</a:t>
            </a:r>
            <a:r>
              <a:rPr lang="it-IT" dirty="0">
                <a:latin typeface="Arial"/>
                <a:ea typeface="Calibri"/>
                <a:cs typeface="Arial"/>
              </a:rPr>
              <a:t> the </a:t>
            </a:r>
            <a:r>
              <a:rPr lang="it-IT" dirty="0" err="1">
                <a:latin typeface="Arial"/>
                <a:ea typeface="Calibri"/>
                <a:cs typeface="Arial"/>
              </a:rPr>
              <a:t>cladding</a:t>
            </a:r>
            <a:r>
              <a:rPr lang="it-IT" dirty="0">
                <a:latin typeface="Arial"/>
                <a:ea typeface="Calibri"/>
                <a:cs typeface="Arial"/>
              </a:rPr>
              <a:t> index, </a:t>
            </a:r>
            <a:r>
              <a:rPr lang="it-IT" dirty="0" err="1">
                <a:latin typeface="Arial"/>
                <a:ea typeface="Calibri"/>
                <a:cs typeface="Arial"/>
              </a:rPr>
              <a:t>they</a:t>
            </a:r>
            <a:r>
              <a:rPr lang="it-IT" dirty="0">
                <a:latin typeface="Arial"/>
                <a:ea typeface="Calibri"/>
                <a:cs typeface="Arial"/>
              </a:rPr>
              <a:t> are </a:t>
            </a:r>
            <a:r>
              <a:rPr lang="it-IT" dirty="0" err="1">
                <a:latin typeface="Arial"/>
                <a:ea typeface="Calibri"/>
                <a:cs typeface="Arial"/>
              </a:rPr>
              <a:t>not</a:t>
            </a:r>
            <a:r>
              <a:rPr lang="it-IT" dirty="0">
                <a:latin typeface="Arial"/>
                <a:ea typeface="Calibri"/>
                <a:cs typeface="Arial"/>
              </a:rPr>
              <a:t> </a:t>
            </a:r>
            <a:r>
              <a:rPr lang="it-IT" dirty="0" err="1">
                <a:latin typeface="Arial"/>
                <a:ea typeface="Calibri"/>
                <a:cs typeface="Arial"/>
              </a:rPr>
              <a:t>guided</a:t>
            </a:r>
            <a:r>
              <a:rPr lang="it-IT" dirty="0">
                <a:latin typeface="Arial"/>
                <a:ea typeface="Calibri"/>
                <a:cs typeface="Arial"/>
              </a:rPr>
              <a:t> and so </a:t>
            </a:r>
            <a:r>
              <a:rPr lang="it-IT" dirty="0" err="1">
                <a:latin typeface="Arial"/>
                <a:ea typeface="Calibri"/>
                <a:cs typeface="Arial"/>
              </a:rPr>
              <a:t>we</a:t>
            </a:r>
            <a:r>
              <a:rPr lang="it-IT" dirty="0">
                <a:latin typeface="Arial"/>
                <a:ea typeface="Calibri"/>
                <a:cs typeface="Arial"/>
              </a:rPr>
              <a:t> </a:t>
            </a:r>
            <a:r>
              <a:rPr lang="it-IT" dirty="0" err="1">
                <a:latin typeface="Arial"/>
                <a:ea typeface="Calibri"/>
                <a:cs typeface="Arial"/>
              </a:rPr>
              <a:t>only</a:t>
            </a:r>
            <a:r>
              <a:rPr lang="it-IT" dirty="0">
                <a:latin typeface="Arial"/>
                <a:ea typeface="Calibri"/>
                <a:cs typeface="Arial"/>
              </a:rPr>
              <a:t> </a:t>
            </a:r>
            <a:r>
              <a:rPr lang="it-IT" dirty="0" err="1">
                <a:latin typeface="Arial"/>
                <a:ea typeface="Calibri"/>
                <a:cs typeface="Arial"/>
              </a:rPr>
              <a:t>have</a:t>
            </a:r>
            <a:r>
              <a:rPr lang="it-IT" dirty="0">
                <a:latin typeface="Arial"/>
                <a:ea typeface="Calibri"/>
                <a:cs typeface="Arial"/>
              </a:rPr>
              <a:t> the 2 </a:t>
            </a:r>
            <a:r>
              <a:rPr lang="it-IT" dirty="0" err="1">
                <a:latin typeface="Arial"/>
                <a:ea typeface="Calibri"/>
                <a:cs typeface="Arial"/>
              </a:rPr>
              <a:t>guided</a:t>
            </a:r>
            <a:r>
              <a:rPr lang="it-IT" dirty="0">
                <a:latin typeface="Arial"/>
                <a:ea typeface="Calibri"/>
                <a:cs typeface="Arial"/>
              </a:rPr>
              <a:t> </a:t>
            </a:r>
            <a:r>
              <a:rPr lang="it-IT" dirty="0" err="1">
                <a:latin typeface="Arial"/>
                <a:ea typeface="Calibri"/>
                <a:cs typeface="Arial"/>
              </a:rPr>
              <a:t>fundamental</a:t>
            </a:r>
            <a:r>
              <a:rPr lang="it-IT" dirty="0">
                <a:latin typeface="Arial"/>
                <a:ea typeface="Calibri"/>
                <a:cs typeface="Arial"/>
              </a:rPr>
              <a:t> </a:t>
            </a:r>
            <a:r>
              <a:rPr lang="it-IT" dirty="0" err="1">
                <a:latin typeface="Arial"/>
                <a:ea typeface="Calibri"/>
                <a:cs typeface="Arial"/>
              </a:rPr>
              <a:t>modes</a:t>
            </a:r>
            <a:r>
              <a:rPr lang="it-IT" dirty="0">
                <a:latin typeface="Arial"/>
                <a:ea typeface="Calibri"/>
                <a:cs typeface="Arial"/>
              </a:rPr>
              <a:t>. </a:t>
            </a:r>
            <a:r>
              <a:rPr lang="it-IT" dirty="0" err="1">
                <a:latin typeface="Arial"/>
                <a:ea typeface="Calibri"/>
                <a:cs typeface="Arial"/>
              </a:rPr>
              <a:t>Shown</a:t>
            </a:r>
            <a:r>
              <a:rPr lang="it-IT" dirty="0">
                <a:latin typeface="Arial"/>
                <a:ea typeface="Calibri"/>
                <a:cs typeface="Arial"/>
              </a:rPr>
              <a:t> </a:t>
            </a:r>
            <a:r>
              <a:rPr lang="it-IT" dirty="0" err="1">
                <a:latin typeface="Arial"/>
                <a:ea typeface="Calibri"/>
                <a:cs typeface="Arial"/>
              </a:rPr>
              <a:t>above</a:t>
            </a:r>
            <a:r>
              <a:rPr lang="it-IT" dirty="0">
                <a:latin typeface="Arial"/>
                <a:ea typeface="Calibri"/>
                <a:cs typeface="Arial"/>
              </a:rPr>
              <a:t> are the field cross </a:t>
            </a:r>
            <a:r>
              <a:rPr lang="it-IT" dirty="0" err="1">
                <a:latin typeface="Arial"/>
                <a:ea typeface="Calibri"/>
                <a:cs typeface="Arial"/>
              </a:rPr>
              <a:t>section</a:t>
            </a:r>
            <a:r>
              <a:rPr lang="it-IT" dirty="0">
                <a:latin typeface="Arial"/>
                <a:ea typeface="Calibri"/>
                <a:cs typeface="Arial"/>
              </a:rPr>
              <a:t> plot of the 2 </a:t>
            </a:r>
            <a:r>
              <a:rPr lang="it-IT" dirty="0" err="1">
                <a:latin typeface="Arial"/>
                <a:ea typeface="Calibri"/>
                <a:cs typeface="Arial"/>
              </a:rPr>
              <a:t>aforementioned</a:t>
            </a:r>
            <a:r>
              <a:rPr lang="it-IT" dirty="0">
                <a:latin typeface="Arial"/>
                <a:ea typeface="Calibri"/>
                <a:cs typeface="Arial"/>
              </a:rPr>
              <a:t> </a:t>
            </a:r>
            <a:r>
              <a:rPr lang="it-IT" dirty="0" err="1">
                <a:latin typeface="Arial"/>
                <a:ea typeface="Calibri"/>
                <a:cs typeface="Arial"/>
              </a:rPr>
              <a:t>modes</a:t>
            </a:r>
            <a:r>
              <a:rPr lang="it-IT" dirty="0">
                <a:latin typeface="Arial"/>
                <a:ea typeface="Calibri"/>
                <a:cs typeface="Arial"/>
              </a:rPr>
              <a:t> TE0 and TM0 </a:t>
            </a:r>
            <a:r>
              <a:rPr lang="it-IT" dirty="0" err="1">
                <a:latin typeface="Arial"/>
                <a:ea typeface="Calibri"/>
                <a:cs typeface="Arial"/>
              </a:rPr>
              <a:t>respectively</a:t>
            </a:r>
            <a:r>
              <a:rPr lang="it-IT" dirty="0">
                <a:latin typeface="Arial"/>
                <a:ea typeface="Calibri"/>
                <a:cs typeface="Arial"/>
              </a:rPr>
              <a:t>. TE0 </a:t>
            </a:r>
            <a:r>
              <a:rPr lang="it-IT" dirty="0" err="1">
                <a:latin typeface="Arial"/>
                <a:ea typeface="Calibri"/>
                <a:cs typeface="Arial"/>
              </a:rPr>
              <a:t>is</a:t>
            </a:r>
            <a:r>
              <a:rPr lang="it-IT" dirty="0">
                <a:latin typeface="Arial"/>
                <a:ea typeface="Calibri"/>
                <a:cs typeface="Arial"/>
              </a:rPr>
              <a:t> </a:t>
            </a:r>
            <a:r>
              <a:rPr lang="it-IT" dirty="0" err="1">
                <a:latin typeface="Arial"/>
                <a:ea typeface="Calibri"/>
                <a:cs typeface="Arial"/>
              </a:rPr>
              <a:t>shown</a:t>
            </a:r>
            <a:r>
              <a:rPr lang="it-IT" dirty="0">
                <a:latin typeface="Arial"/>
                <a:ea typeface="Calibri"/>
                <a:cs typeface="Arial"/>
              </a:rPr>
              <a:t> </a:t>
            </a:r>
            <a:r>
              <a:rPr lang="it-IT" dirty="0" err="1">
                <a:latin typeface="Arial"/>
                <a:ea typeface="Calibri"/>
                <a:cs typeface="Arial"/>
              </a:rPr>
              <a:t>through</a:t>
            </a:r>
            <a:r>
              <a:rPr lang="it-IT" dirty="0">
                <a:latin typeface="Arial"/>
                <a:ea typeface="Calibri"/>
                <a:cs typeface="Arial"/>
              </a:rPr>
              <a:t> the x component, </a:t>
            </a:r>
            <a:r>
              <a:rPr lang="it-IT" dirty="0" err="1">
                <a:latin typeface="Arial"/>
                <a:ea typeface="Calibri"/>
                <a:cs typeface="Arial"/>
              </a:rPr>
              <a:t>since</a:t>
            </a:r>
            <a:r>
              <a:rPr lang="it-IT" dirty="0">
                <a:latin typeface="Arial"/>
                <a:ea typeface="Calibri"/>
                <a:cs typeface="Arial"/>
              </a:rPr>
              <a:t> </a:t>
            </a:r>
            <a:r>
              <a:rPr lang="it-IT" dirty="0" err="1">
                <a:latin typeface="Arial"/>
                <a:ea typeface="Calibri"/>
                <a:cs typeface="Arial"/>
              </a:rPr>
              <a:t>it</a:t>
            </a:r>
            <a:r>
              <a:rPr lang="it-IT" dirty="0">
                <a:latin typeface="Arial"/>
                <a:ea typeface="Calibri"/>
                <a:cs typeface="Arial"/>
              </a:rPr>
              <a:t> </a:t>
            </a:r>
            <a:r>
              <a:rPr lang="it-IT" dirty="0" err="1">
                <a:latin typeface="Arial"/>
                <a:ea typeface="Calibri"/>
                <a:cs typeface="Arial"/>
              </a:rPr>
              <a:t>is</a:t>
            </a:r>
            <a:r>
              <a:rPr lang="it-IT" dirty="0">
                <a:latin typeface="Arial"/>
                <a:ea typeface="Calibri"/>
                <a:cs typeface="Arial"/>
              </a:rPr>
              <a:t> </a:t>
            </a:r>
            <a:r>
              <a:rPr lang="it-IT" dirty="0" err="1">
                <a:latin typeface="Arial"/>
                <a:ea typeface="Calibri"/>
                <a:cs typeface="Arial"/>
              </a:rPr>
              <a:t>horizontally</a:t>
            </a:r>
            <a:r>
              <a:rPr lang="it-IT" dirty="0">
                <a:latin typeface="Arial"/>
                <a:ea typeface="Calibri"/>
                <a:cs typeface="Arial"/>
              </a:rPr>
              <a:t> </a:t>
            </a:r>
            <a:r>
              <a:rPr lang="it-IT" dirty="0" err="1">
                <a:latin typeface="Arial"/>
                <a:ea typeface="Calibri"/>
                <a:cs typeface="Arial"/>
              </a:rPr>
              <a:t>polarized</a:t>
            </a:r>
            <a:r>
              <a:rPr lang="it-IT" dirty="0">
                <a:latin typeface="Arial"/>
                <a:ea typeface="Calibri"/>
                <a:cs typeface="Arial"/>
              </a:rPr>
              <a:t>. </a:t>
            </a:r>
            <a:r>
              <a:rPr lang="it-IT" dirty="0" err="1">
                <a:latin typeface="Arial"/>
                <a:ea typeface="Calibri"/>
                <a:cs typeface="Arial"/>
              </a:rPr>
              <a:t>Being</a:t>
            </a:r>
            <a:r>
              <a:rPr lang="it-IT" dirty="0">
                <a:latin typeface="Arial"/>
                <a:ea typeface="Calibri"/>
                <a:cs typeface="Arial"/>
              </a:rPr>
              <a:t> the </a:t>
            </a:r>
            <a:r>
              <a:rPr lang="it-IT" dirty="0" err="1">
                <a:latin typeface="Arial"/>
                <a:ea typeface="Calibri"/>
                <a:cs typeface="Arial"/>
              </a:rPr>
              <a:t>waveguide</a:t>
            </a:r>
            <a:r>
              <a:rPr lang="it-IT" dirty="0">
                <a:latin typeface="Arial"/>
                <a:ea typeface="Calibri"/>
                <a:cs typeface="Arial"/>
              </a:rPr>
              <a:t> </a:t>
            </a:r>
            <a:r>
              <a:rPr lang="it-IT" dirty="0" err="1">
                <a:latin typeface="Arial"/>
                <a:ea typeface="Calibri"/>
                <a:cs typeface="Arial"/>
              </a:rPr>
              <a:t>wider</a:t>
            </a:r>
            <a:r>
              <a:rPr lang="it-IT" dirty="0">
                <a:latin typeface="Arial"/>
                <a:ea typeface="Calibri"/>
                <a:cs typeface="Arial"/>
              </a:rPr>
              <a:t> </a:t>
            </a:r>
            <a:r>
              <a:rPr lang="it-IT" dirty="0" err="1">
                <a:latin typeface="Arial"/>
                <a:ea typeface="Calibri"/>
                <a:cs typeface="Arial"/>
              </a:rPr>
              <a:t>than</a:t>
            </a:r>
            <a:r>
              <a:rPr lang="it-IT" dirty="0">
                <a:latin typeface="Arial"/>
                <a:ea typeface="Calibri"/>
                <a:cs typeface="Arial"/>
              </a:rPr>
              <a:t> </a:t>
            </a:r>
            <a:r>
              <a:rPr lang="it-IT" dirty="0" err="1">
                <a:latin typeface="Arial"/>
                <a:ea typeface="Calibri"/>
                <a:cs typeface="Arial"/>
              </a:rPr>
              <a:t>taller</a:t>
            </a:r>
            <a:r>
              <a:rPr lang="it-IT" dirty="0">
                <a:latin typeface="Arial"/>
                <a:ea typeface="Calibri"/>
                <a:cs typeface="Arial"/>
              </a:rPr>
              <a:t> </a:t>
            </a:r>
            <a:r>
              <a:rPr lang="it-IT" dirty="0" err="1">
                <a:latin typeface="Arial"/>
                <a:ea typeface="Calibri"/>
                <a:cs typeface="Arial"/>
              </a:rPr>
              <a:t>this</a:t>
            </a:r>
            <a:r>
              <a:rPr lang="it-IT" dirty="0">
                <a:latin typeface="Arial"/>
                <a:ea typeface="Calibri"/>
                <a:cs typeface="Arial"/>
              </a:rPr>
              <a:t> </a:t>
            </a:r>
            <a:r>
              <a:rPr lang="it-IT" dirty="0" err="1">
                <a:latin typeface="Arial"/>
                <a:ea typeface="Calibri"/>
                <a:cs typeface="Arial"/>
              </a:rPr>
              <a:t>causes</a:t>
            </a:r>
            <a:r>
              <a:rPr lang="it-IT" dirty="0">
                <a:latin typeface="Arial"/>
                <a:ea typeface="Calibri"/>
                <a:cs typeface="Arial"/>
              </a:rPr>
              <a:t> TE to be </a:t>
            </a:r>
            <a:r>
              <a:rPr lang="it-IT" dirty="0" err="1">
                <a:latin typeface="Arial"/>
                <a:ea typeface="Calibri"/>
                <a:cs typeface="Arial"/>
              </a:rPr>
              <a:t>better</a:t>
            </a:r>
            <a:r>
              <a:rPr lang="it-IT" dirty="0">
                <a:latin typeface="Arial"/>
                <a:ea typeface="Calibri"/>
                <a:cs typeface="Arial"/>
              </a:rPr>
              <a:t> </a:t>
            </a:r>
            <a:r>
              <a:rPr lang="it-IT" dirty="0" err="1">
                <a:latin typeface="Arial"/>
                <a:ea typeface="Calibri"/>
                <a:cs typeface="Arial"/>
              </a:rPr>
              <a:t>confined</a:t>
            </a:r>
            <a:r>
              <a:rPr lang="it-IT" dirty="0">
                <a:latin typeface="Arial"/>
                <a:ea typeface="Calibri"/>
                <a:cs typeface="Arial"/>
              </a:rPr>
              <a:t> </a:t>
            </a:r>
            <a:r>
              <a:rPr lang="it-IT" dirty="0" err="1">
                <a:latin typeface="Arial"/>
                <a:ea typeface="Calibri"/>
                <a:cs typeface="Arial"/>
              </a:rPr>
              <a:t>than</a:t>
            </a:r>
            <a:r>
              <a:rPr lang="it-IT" dirty="0">
                <a:latin typeface="Arial"/>
                <a:ea typeface="Calibri"/>
                <a:cs typeface="Arial"/>
              </a:rPr>
              <a:t> TM and to </a:t>
            </a:r>
            <a:r>
              <a:rPr lang="it-IT" dirty="0" err="1">
                <a:latin typeface="Arial"/>
                <a:ea typeface="Calibri"/>
                <a:cs typeface="Arial"/>
              </a:rPr>
              <a:t>therefore</a:t>
            </a:r>
            <a:r>
              <a:rPr lang="it-IT" dirty="0">
                <a:latin typeface="Arial"/>
                <a:ea typeface="Calibri"/>
                <a:cs typeface="Arial"/>
              </a:rPr>
              <a:t> </a:t>
            </a:r>
            <a:r>
              <a:rPr lang="it-IT" dirty="0" err="1">
                <a:latin typeface="Arial"/>
                <a:ea typeface="Calibri"/>
                <a:cs typeface="Arial"/>
              </a:rPr>
              <a:t>have</a:t>
            </a:r>
            <a:r>
              <a:rPr lang="it-IT" dirty="0">
                <a:latin typeface="Arial"/>
                <a:ea typeface="Calibri"/>
                <a:cs typeface="Arial"/>
              </a:rPr>
              <a:t> a </a:t>
            </a:r>
            <a:r>
              <a:rPr lang="it-IT" dirty="0" err="1">
                <a:latin typeface="Arial"/>
                <a:ea typeface="Calibri"/>
                <a:cs typeface="Arial"/>
              </a:rPr>
              <a:t>larger</a:t>
            </a:r>
            <a:r>
              <a:rPr lang="it-IT" dirty="0">
                <a:latin typeface="Arial"/>
                <a:ea typeface="Calibri"/>
                <a:cs typeface="Arial"/>
              </a:rPr>
              <a:t> </a:t>
            </a:r>
            <a:r>
              <a:rPr lang="it-IT" dirty="0" err="1">
                <a:latin typeface="Arial"/>
                <a:ea typeface="Calibri"/>
                <a:cs typeface="Arial"/>
              </a:rPr>
              <a:t>effective</a:t>
            </a:r>
            <a:r>
              <a:rPr lang="it-IT" dirty="0">
                <a:latin typeface="Arial"/>
                <a:ea typeface="Calibri"/>
                <a:cs typeface="Arial"/>
              </a:rPr>
              <a:t> index. On the </a:t>
            </a:r>
            <a:r>
              <a:rPr lang="it-IT" dirty="0" err="1">
                <a:latin typeface="Arial"/>
                <a:ea typeface="Calibri"/>
                <a:cs typeface="Arial"/>
              </a:rPr>
              <a:t>other</a:t>
            </a:r>
            <a:r>
              <a:rPr lang="it-IT" dirty="0">
                <a:latin typeface="Arial"/>
                <a:ea typeface="Calibri"/>
                <a:cs typeface="Arial"/>
              </a:rPr>
              <a:t> hand, the </a:t>
            </a:r>
            <a:r>
              <a:rPr lang="it-IT" dirty="0" err="1">
                <a:latin typeface="Arial"/>
                <a:ea typeface="Calibri"/>
                <a:cs typeface="Arial"/>
              </a:rPr>
              <a:t>vertically</a:t>
            </a:r>
            <a:r>
              <a:rPr lang="it-IT" dirty="0">
                <a:latin typeface="Arial"/>
                <a:ea typeface="Calibri"/>
                <a:cs typeface="Arial"/>
              </a:rPr>
              <a:t> </a:t>
            </a:r>
            <a:r>
              <a:rPr lang="it-IT" dirty="0" err="1">
                <a:latin typeface="Arial"/>
                <a:ea typeface="Calibri"/>
                <a:cs typeface="Arial"/>
              </a:rPr>
              <a:t>polarized</a:t>
            </a:r>
            <a:r>
              <a:rPr lang="it-IT" dirty="0">
                <a:latin typeface="Arial"/>
                <a:ea typeface="Calibri"/>
                <a:cs typeface="Arial"/>
              </a:rPr>
              <a:t> TM0 field </a:t>
            </a:r>
            <a:r>
              <a:rPr lang="it-IT" dirty="0" err="1">
                <a:latin typeface="Arial"/>
                <a:ea typeface="Calibri"/>
                <a:cs typeface="Arial"/>
              </a:rPr>
              <a:t>is</a:t>
            </a:r>
            <a:r>
              <a:rPr lang="it-IT" dirty="0">
                <a:latin typeface="Arial"/>
                <a:ea typeface="Calibri"/>
                <a:cs typeface="Arial"/>
              </a:rPr>
              <a:t> </a:t>
            </a:r>
            <a:r>
              <a:rPr lang="it-IT" dirty="0" err="1">
                <a:latin typeface="Arial"/>
                <a:ea typeface="Calibri"/>
                <a:cs typeface="Arial"/>
              </a:rPr>
              <a:t>shown</a:t>
            </a:r>
            <a:r>
              <a:rPr lang="it-IT" dirty="0">
                <a:latin typeface="Arial"/>
                <a:ea typeface="Calibri"/>
                <a:cs typeface="Arial"/>
              </a:rPr>
              <a:t> via </a:t>
            </a:r>
            <a:r>
              <a:rPr lang="it-IT" dirty="0" err="1">
                <a:latin typeface="Arial"/>
                <a:ea typeface="Calibri"/>
                <a:cs typeface="Arial"/>
              </a:rPr>
              <a:t>its</a:t>
            </a:r>
            <a:r>
              <a:rPr lang="it-IT" dirty="0">
                <a:latin typeface="Arial"/>
                <a:ea typeface="Calibri"/>
                <a:cs typeface="Arial"/>
              </a:rPr>
              <a:t> y component. </a:t>
            </a:r>
            <a:r>
              <a:rPr lang="it-IT" dirty="0" err="1">
                <a:latin typeface="Arial"/>
                <a:ea typeface="Calibri"/>
                <a:cs typeface="Arial"/>
              </a:rPr>
              <a:t>These</a:t>
            </a:r>
            <a:r>
              <a:rPr lang="it-IT" dirty="0">
                <a:latin typeface="Arial"/>
                <a:ea typeface="Calibri"/>
                <a:cs typeface="Arial"/>
              </a:rPr>
              <a:t> 2 are the </a:t>
            </a:r>
            <a:r>
              <a:rPr lang="it-IT" dirty="0" err="1">
                <a:latin typeface="Arial"/>
                <a:ea typeface="Calibri"/>
                <a:cs typeface="Arial"/>
              </a:rPr>
              <a:t>only</a:t>
            </a:r>
            <a:r>
              <a:rPr lang="it-IT" dirty="0">
                <a:latin typeface="Arial"/>
                <a:ea typeface="Calibri"/>
                <a:cs typeface="Arial"/>
              </a:rPr>
              <a:t> </a:t>
            </a:r>
            <a:r>
              <a:rPr lang="it-IT" dirty="0" err="1">
                <a:latin typeface="Arial"/>
                <a:ea typeface="Calibri"/>
                <a:cs typeface="Arial"/>
              </a:rPr>
              <a:t>present</a:t>
            </a:r>
            <a:r>
              <a:rPr lang="it-IT" dirty="0">
                <a:latin typeface="Arial"/>
                <a:ea typeface="Calibri"/>
                <a:cs typeface="Arial"/>
              </a:rPr>
              <a:t> </a:t>
            </a:r>
            <a:r>
              <a:rPr lang="it-IT" dirty="0" err="1">
                <a:latin typeface="Arial"/>
                <a:ea typeface="Calibri"/>
                <a:cs typeface="Arial"/>
              </a:rPr>
              <a:t>guided</a:t>
            </a:r>
            <a:r>
              <a:rPr lang="it-IT" dirty="0">
                <a:latin typeface="Arial"/>
                <a:ea typeface="Calibri"/>
                <a:cs typeface="Arial"/>
              </a:rPr>
              <a:t> </a:t>
            </a:r>
            <a:r>
              <a:rPr lang="it-IT" dirty="0" err="1">
                <a:latin typeface="Arial"/>
                <a:ea typeface="Calibri"/>
                <a:cs typeface="Arial"/>
              </a:rPr>
              <a:t>modes</a:t>
            </a:r>
            <a:r>
              <a:rPr lang="it-IT" dirty="0">
                <a:latin typeface="Arial"/>
                <a:ea typeface="Calibri"/>
                <a:cs typeface="Arial"/>
              </a:rPr>
              <a:t>. </a:t>
            </a:r>
            <a:br>
              <a:rPr lang="it-IT" dirty="0">
                <a:latin typeface="Arial"/>
                <a:ea typeface="Calibri"/>
                <a:cs typeface="Arial"/>
              </a:rPr>
            </a:br>
            <a:br>
              <a:rPr lang="it-IT" dirty="0">
                <a:latin typeface="Arial"/>
                <a:ea typeface="Calibri"/>
                <a:cs typeface="Arial"/>
              </a:rPr>
            </a:br>
            <a:endParaRPr lang="it-IT" dirty="0">
              <a:latin typeface="Arial"/>
              <a:ea typeface="Calibri"/>
              <a:cs typeface="Arial"/>
            </a:endParaRPr>
          </a:p>
        </p:txBody>
      </p:sp>
      <p:pic>
        <p:nvPicPr>
          <p:cNvPr id="9" name="Immagine 8" descr="Immagine che contiene testo, schermata, Policromia&#10;&#10;Il contenuto generato dall&amp;#39;IA potrebbe non essere corretto.">
            <a:extLst>
              <a:ext uri="{FF2B5EF4-FFF2-40B4-BE49-F238E27FC236}">
                <a16:creationId xmlns:a16="http://schemas.microsoft.com/office/drawing/2014/main" id="{530D6A2E-9E26-36EF-05E1-EDF4B3880F04}"/>
              </a:ext>
            </a:extLst>
          </p:cNvPr>
          <p:cNvPicPr>
            <a:picLocks noChangeAspect="1"/>
          </p:cNvPicPr>
          <p:nvPr/>
        </p:nvPicPr>
        <p:blipFill>
          <a:blip r:embed="rId2"/>
          <a:stretch>
            <a:fillRect/>
          </a:stretch>
        </p:blipFill>
        <p:spPr>
          <a:xfrm>
            <a:off x="1031350" y="185422"/>
            <a:ext cx="5292554" cy="3546905"/>
          </a:xfrm>
          <a:prstGeom prst="rect">
            <a:avLst/>
          </a:prstGeom>
        </p:spPr>
      </p:pic>
      <p:pic>
        <p:nvPicPr>
          <p:cNvPr id="10" name="Immagine 9" descr="Immagine che contiene testo, schermata, Policromia&#10;&#10;Il contenuto generato dall&amp;#39;IA potrebbe non essere corretto.">
            <a:extLst>
              <a:ext uri="{FF2B5EF4-FFF2-40B4-BE49-F238E27FC236}">
                <a16:creationId xmlns:a16="http://schemas.microsoft.com/office/drawing/2014/main" id="{2C2802A0-9FA5-07B9-8507-0DABE39F5CDE}"/>
              </a:ext>
            </a:extLst>
          </p:cNvPr>
          <p:cNvPicPr>
            <a:picLocks noChangeAspect="1"/>
          </p:cNvPicPr>
          <p:nvPr/>
        </p:nvPicPr>
        <p:blipFill>
          <a:blip r:embed="rId3"/>
          <a:stretch>
            <a:fillRect/>
          </a:stretch>
        </p:blipFill>
        <p:spPr>
          <a:xfrm>
            <a:off x="6679868" y="140476"/>
            <a:ext cx="5432082" cy="3641124"/>
          </a:xfrm>
          <a:prstGeom prst="rect">
            <a:avLst/>
          </a:prstGeom>
        </p:spPr>
      </p:pic>
      <p:sp>
        <p:nvSpPr>
          <p:cNvPr id="2" name="CasellaDiTesto 1">
            <a:extLst>
              <a:ext uri="{FF2B5EF4-FFF2-40B4-BE49-F238E27FC236}">
                <a16:creationId xmlns:a16="http://schemas.microsoft.com/office/drawing/2014/main" id="{040BCB54-2211-44BA-2438-AA3A4DC6A5E9}"/>
              </a:ext>
            </a:extLst>
          </p:cNvPr>
          <p:cNvSpPr txBox="1"/>
          <p:nvPr/>
        </p:nvSpPr>
        <p:spPr>
          <a:xfrm>
            <a:off x="30285" y="138012"/>
            <a:ext cx="2014978" cy="3726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b="1" err="1">
                <a:ea typeface="Calibri"/>
                <a:cs typeface="Calibri"/>
              </a:rPr>
              <a:t>Results</a:t>
            </a:r>
            <a:r>
              <a:rPr lang="it-IT" b="1" dirty="0">
                <a:ea typeface="Calibri"/>
                <a:cs typeface="Calibri"/>
              </a:rPr>
              <a:t> from LO.1</a:t>
            </a:r>
            <a:endParaRPr lang="it-IT" b="1" dirty="0"/>
          </a:p>
        </p:txBody>
      </p:sp>
    </p:spTree>
    <p:extLst>
      <p:ext uri="{BB962C8B-B14F-4D97-AF65-F5344CB8AC3E}">
        <p14:creationId xmlns:p14="http://schemas.microsoft.com/office/powerpoint/2010/main" val="895443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69003" y="288580"/>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256209" y="4725403"/>
            <a:ext cx="11199971" cy="2062103"/>
          </a:xfrm>
          <a:prstGeom prst="rect">
            <a:avLst/>
          </a:prstGeom>
          <a:solidFill>
            <a:schemeClr val="bg1"/>
          </a:solidFill>
          <a:ln w="28575">
            <a:noFill/>
          </a:ln>
        </p:spPr>
        <p:txBody>
          <a:bodyPr wrap="square" lIns="91440" tIns="45720" rIns="91440" bIns="45720" rtlCol="0" anchor="t">
            <a:spAutoFit/>
          </a:bodyPr>
          <a:lstStyle/>
          <a:p>
            <a:pPr algn="just"/>
            <a:r>
              <a:rPr lang="en-US" sz="1600" dirty="0">
                <a:latin typeface="Arial"/>
                <a:cs typeface="Arial"/>
              </a:rPr>
              <a:t>High refractive index is indicative of stronger field confinement in the core, therefore lower dispersion in the cladding. As the wavelength increases, its size compared to the core increases as well, causing higher dispersion in the cladding and therefore the refractive index decreases. The Fundamental mode 0 is the one providing higher confinement, while as we look at higher order modes, the index decreases for each one of these since the higher number of lateral lobes increases </a:t>
            </a:r>
            <a:r>
              <a:rPr lang="en-US" sz="1600" err="1">
                <a:latin typeface="Arial"/>
                <a:cs typeface="Arial"/>
              </a:rPr>
              <a:t>trasversal</a:t>
            </a:r>
            <a:r>
              <a:rPr lang="en-US" sz="1600" dirty="0">
                <a:latin typeface="Arial"/>
                <a:cs typeface="Arial"/>
              </a:rPr>
              <a:t> complexity and causes higher dispersion. For these same reasons the Deep waveguide provides higher indices since the confinement is aided by the thicker core. As commented during the laboratory we see that for </a:t>
            </a:r>
            <a:r>
              <a:rPr lang="en-US" sz="1600" err="1">
                <a:latin typeface="Arial"/>
                <a:cs typeface="Arial"/>
              </a:rPr>
              <a:t>bot</a:t>
            </a:r>
            <a:r>
              <a:rPr lang="en-US" sz="1600" dirty="0">
                <a:latin typeface="Arial"/>
                <a:cs typeface="Arial"/>
              </a:rPr>
              <a:t> waveguides we only have mode 0 and mode 1 propagating while mode 3 and 4 have a lower index than that of the material, causing these modes to not be properly guided(higher leakiness)</a:t>
            </a:r>
          </a:p>
        </p:txBody>
      </p:sp>
      <p:sp>
        <p:nvSpPr>
          <p:cNvPr id="5" name="Rectángulo 4">
            <a:extLst>
              <a:ext uri="{FF2B5EF4-FFF2-40B4-BE49-F238E27FC236}">
                <a16:creationId xmlns:a16="http://schemas.microsoft.com/office/drawing/2014/main" id="{88F19863-7091-B8CA-F848-DBEA5CEEA027}"/>
              </a:ext>
            </a:extLst>
          </p:cNvPr>
          <p:cNvSpPr/>
          <p:nvPr/>
        </p:nvSpPr>
        <p:spPr>
          <a:xfrm>
            <a:off x="997311" y="1636361"/>
            <a:ext cx="4419759" cy="272673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a:t>shallow</a:t>
            </a:r>
            <a:r>
              <a:rPr lang="en-US"/>
              <a:t> waveguide</a:t>
            </a:r>
          </a:p>
          <a:p>
            <a:pPr algn="ctr"/>
            <a:endParaRPr lang="en-US"/>
          </a:p>
          <a:p>
            <a:pPr algn="ctr"/>
            <a:r>
              <a:rPr lang="en-US"/>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7027327" y="1571173"/>
            <a:ext cx="4419759" cy="272673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a:t>deep</a:t>
            </a:r>
            <a:r>
              <a:rPr lang="en-US"/>
              <a:t> waveguide</a:t>
            </a:r>
          </a:p>
          <a:p>
            <a:pPr algn="ctr"/>
            <a:endParaRPr lang="en-US"/>
          </a:p>
          <a:p>
            <a:pPr algn="ctr"/>
            <a:r>
              <a:rPr lang="en-US"/>
              <a:t>Paste plot here</a:t>
            </a:r>
          </a:p>
        </p:txBody>
      </p:sp>
      <p:sp>
        <p:nvSpPr>
          <p:cNvPr id="9" name="CuadroTexto 8">
            <a:extLst>
              <a:ext uri="{FF2B5EF4-FFF2-40B4-BE49-F238E27FC236}">
                <a16:creationId xmlns:a16="http://schemas.microsoft.com/office/drawing/2014/main" id="{8BD4C233-B5D9-B6AA-93A8-CF2F130CFF9C}"/>
              </a:ext>
            </a:extLst>
          </p:cNvPr>
          <p:cNvSpPr txBox="1"/>
          <p:nvPr/>
        </p:nvSpPr>
        <p:spPr>
          <a:xfrm>
            <a:off x="1131512" y="3907180"/>
            <a:ext cx="2243773" cy="369332"/>
          </a:xfrm>
          <a:prstGeom prst="rect">
            <a:avLst/>
          </a:prstGeom>
          <a:noFill/>
        </p:spPr>
        <p:txBody>
          <a:bodyPr wrap="square">
            <a:spAutoFit/>
          </a:bodyPr>
          <a:lstStyle/>
          <a:p>
            <a:r>
              <a:rPr lang="en-US"/>
              <a:t>slab = 150nm</a:t>
            </a:r>
            <a:endParaRPr lang="es-ES"/>
          </a:p>
        </p:txBody>
      </p:sp>
      <p:pic>
        <p:nvPicPr>
          <p:cNvPr id="19" name="Immagine 18">
            <a:extLst>
              <a:ext uri="{FF2B5EF4-FFF2-40B4-BE49-F238E27FC236}">
                <a16:creationId xmlns:a16="http://schemas.microsoft.com/office/drawing/2014/main" id="{CB4214F4-5096-6A4B-D6AC-A741E8C82348}"/>
              </a:ext>
            </a:extLst>
          </p:cNvPr>
          <p:cNvPicPr>
            <a:picLocks noChangeAspect="1"/>
          </p:cNvPicPr>
          <p:nvPr/>
        </p:nvPicPr>
        <p:blipFill>
          <a:blip r:embed="rId3"/>
          <a:stretch>
            <a:fillRect/>
          </a:stretch>
        </p:blipFill>
        <p:spPr>
          <a:xfrm>
            <a:off x="76424" y="1091986"/>
            <a:ext cx="6261532" cy="3632414"/>
          </a:xfrm>
          <a:prstGeom prst="rect">
            <a:avLst/>
          </a:prstGeom>
        </p:spPr>
      </p:pic>
      <p:pic>
        <p:nvPicPr>
          <p:cNvPr id="21" name="Immagine 20">
            <a:extLst>
              <a:ext uri="{FF2B5EF4-FFF2-40B4-BE49-F238E27FC236}">
                <a16:creationId xmlns:a16="http://schemas.microsoft.com/office/drawing/2014/main" id="{F54E92A5-2E7D-DF0D-F61C-FE9EDBA4012E}"/>
              </a:ext>
            </a:extLst>
          </p:cNvPr>
          <p:cNvPicPr>
            <a:picLocks noChangeAspect="1"/>
          </p:cNvPicPr>
          <p:nvPr/>
        </p:nvPicPr>
        <p:blipFill>
          <a:blip r:embed="rId4"/>
          <a:stretch>
            <a:fillRect/>
          </a:stretch>
        </p:blipFill>
        <p:spPr>
          <a:xfrm>
            <a:off x="6166208" y="1066800"/>
            <a:ext cx="6046673" cy="3526741"/>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6641" y="1565305"/>
            <a:ext cx="4320000" cy="5570756"/>
          </a:xfrm>
          <a:prstGeom prst="rect">
            <a:avLst/>
          </a:prstGeom>
          <a:noFill/>
          <a:ln w="28575">
            <a:noFill/>
          </a:ln>
        </p:spPr>
        <p:txBody>
          <a:bodyPr wrap="square" lIns="91440" tIns="45720" rIns="91440" bIns="45720" rtlCol="0" anchor="t">
            <a:spAutoFit/>
          </a:bodyPr>
          <a:lstStyle/>
          <a:p>
            <a:pPr algn="just"/>
            <a:r>
              <a:rPr lang="en-US" sz="1400" dirty="0">
                <a:latin typeface="Arial"/>
                <a:cs typeface="Arial"/>
              </a:rPr>
              <a:t>As for the previous scenario, here an increase in the width provides better lateral confinement, increasing the index. For higher, already better guided modes, the increase in more gradual, while it is rapid in case of mode 2 and 3 since larger width allows for propagation in the waveguide, while for lower values these 2 modes were not present. In fact mode 2 starts appearing at a width of around 1.25 </a:t>
            </a:r>
            <a:r>
              <a:rPr lang="en-US" sz="1400" err="1">
                <a:latin typeface="Arial"/>
                <a:cs typeface="Arial"/>
              </a:rPr>
              <a:t>μm</a:t>
            </a:r>
            <a:r>
              <a:rPr lang="en-US" sz="1400" dirty="0">
                <a:latin typeface="Arial"/>
                <a:cs typeface="Arial"/>
              </a:rPr>
              <a:t> while mode 3 at 1.6 </a:t>
            </a:r>
            <a:r>
              <a:rPr lang="en-US" sz="1400" err="1">
                <a:latin typeface="Arial"/>
                <a:cs typeface="Arial"/>
              </a:rPr>
              <a:t>μm</a:t>
            </a:r>
            <a:r>
              <a:rPr lang="en-US" sz="1400" dirty="0">
                <a:latin typeface="Arial"/>
                <a:cs typeface="Arial"/>
              </a:rPr>
              <a:t>. Polarization is affected since highly dependent on the field conditions at the boundaries. For guided modes we do not have a noticeable variation since they are already well confined and their field distribution is “stable”, but for unguided modes, as their index exceeds the one of the cladding, their polarization better aligns with that of TE and TM modes respectively.</a:t>
            </a:r>
          </a:p>
          <a:p>
            <a:pPr algn="just"/>
            <a:r>
              <a:rPr lang="en-US" sz="1400" dirty="0">
                <a:latin typeface="Arial"/>
                <a:cs typeface="Arial"/>
              </a:rPr>
              <a:t>So as a mode is confined, increasing its confinement does not affect its already balanced field alignment, but as a mode goes from unbounded to effectively confined, the field aligns inside the waveguide, affecting the previously chaotic polarization and making it oriented as expected.</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pic>
        <p:nvPicPr>
          <p:cNvPr id="9" name="Immagine 8">
            <a:extLst>
              <a:ext uri="{FF2B5EF4-FFF2-40B4-BE49-F238E27FC236}">
                <a16:creationId xmlns:a16="http://schemas.microsoft.com/office/drawing/2014/main" id="{E5E36E11-DD3A-10E4-89CC-67B783C11BAB}"/>
              </a:ext>
            </a:extLst>
          </p:cNvPr>
          <p:cNvPicPr>
            <a:picLocks noChangeAspect="1"/>
          </p:cNvPicPr>
          <p:nvPr/>
        </p:nvPicPr>
        <p:blipFill>
          <a:blip r:embed="rId5"/>
          <a:stretch>
            <a:fillRect/>
          </a:stretch>
        </p:blipFill>
        <p:spPr>
          <a:xfrm>
            <a:off x="5266016" y="1816136"/>
            <a:ext cx="6813208" cy="3938988"/>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371509" y="-3009"/>
            <a:ext cx="10994410" cy="813043"/>
          </a:xfrm>
          <a:prstGeom prst="rect">
            <a:avLst/>
          </a:prstGeom>
        </p:spPr>
        <p:txBody>
          <a:bodyPr vert="horz" wrap="square" lIns="0" tIns="12700" rIns="0" bIns="0" rtlCol="0" anchor="t">
            <a:spAutoFit/>
          </a:bodyPr>
          <a:lstStyle/>
          <a:p>
            <a:pPr marL="12700">
              <a:spcBef>
                <a:spcPts val="100"/>
              </a:spcBef>
            </a:pPr>
            <a:r>
              <a:rPr lang="en-US" sz="1800" dirty="0"/>
              <a:t>Learning outcome #4 – Waveguide compact model </a:t>
            </a:r>
            <a:r>
              <a:rPr lang="en-US" sz="1400" b="0" dirty="0"/>
              <a:t>- Find the compact models of the following waveguides: </a:t>
            </a:r>
            <a:br>
              <a:rPr lang="en-US" sz="1400" b="0" dirty="0"/>
            </a:br>
            <a:r>
              <a:rPr lang="en-US" sz="1400" dirty="0"/>
              <a:t>Deep</a:t>
            </a:r>
            <a:r>
              <a:rPr lang="en-US" sz="1400" b="0" dirty="0"/>
              <a:t> waveguide, h=300nm, w=1.2um   - </a:t>
            </a:r>
            <a:r>
              <a:rPr lang="en-US" sz="1400" dirty="0"/>
              <a:t>Shallow</a:t>
            </a:r>
            <a:r>
              <a:rPr lang="en-US" sz="1400" b="0" dirty="0"/>
              <a:t> waveguide, core h=300nm, slab h=150 nm, w = 1.2um </a:t>
            </a:r>
            <a:br>
              <a:rPr lang="en-US" sz="1400" b="0" dirty="0"/>
            </a:br>
            <a:endParaRPr lang="en-US" b="0">
              <a:latin typeface="+mj-lt"/>
              <a:ea typeface="Calibri"/>
              <a:cs typeface="Lucida Sans"/>
            </a:endParaRPr>
          </a:p>
        </p:txBody>
      </p:sp>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5" name="Rectángulo 4">
            <a:extLst>
              <a:ext uri="{FF2B5EF4-FFF2-40B4-BE49-F238E27FC236}">
                <a16:creationId xmlns:a16="http://schemas.microsoft.com/office/drawing/2014/main" id="{A6B92C76-6772-2E00-346F-532321092C04}"/>
              </a:ext>
            </a:extLst>
          </p:cNvPr>
          <p:cNvSpPr/>
          <p:nvPr/>
        </p:nvSpPr>
        <p:spPr>
          <a:xfrm>
            <a:off x="1381737" y="1715529"/>
            <a:ext cx="3952263" cy="20806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7248180" y="1715529"/>
            <a:ext cx="3684534" cy="20806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1886304" y="1885312"/>
                <a:ext cx="2953425" cy="1754326"/>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b="1"/>
                  <a:t>neff_TE0 vs </a:t>
                </a:r>
                <a14:m>
                  <m:oMath xmlns:m="http://schemas.openxmlformats.org/officeDocument/2006/math">
                    <m:r>
                      <a:rPr lang="es-ES" b="1" i="1" smtClean="0">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1886304" y="1885312"/>
                <a:ext cx="2953425" cy="1754326"/>
              </a:xfrm>
              <a:prstGeom prst="rect">
                <a:avLst/>
              </a:prstGeom>
              <a:blipFill>
                <a:blip r:embed="rId3"/>
                <a:stretch>
                  <a:fillRect l="-1031" t="-1736" r="-4124" b="-4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7608583" y="1720555"/>
                <a:ext cx="2963722" cy="1754326"/>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b="1"/>
                  <a:t>neff_TE0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7608583" y="1720555"/>
                <a:ext cx="2963722" cy="1754326"/>
              </a:xfrm>
              <a:prstGeom prst="rect">
                <a:avLst/>
              </a:prstGeom>
              <a:blipFill>
                <a:blip r:embed="rId4"/>
                <a:stretch>
                  <a:fillRect l="-823" t="-1736" r="-4115" b="-4514"/>
                </a:stretch>
              </a:blipFill>
            </p:spPr>
            <p:txBody>
              <a:bodyPr/>
              <a:lstStyle/>
              <a:p>
                <a:r>
                  <a:rPr lang="en-U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1800820"/>
            <a:ext cx="5486560" cy="276999"/>
          </a:xfrm>
          <a:prstGeom prst="rect">
            <a:avLst/>
          </a:prstGeom>
          <a:noFill/>
        </p:spPr>
        <p:txBody>
          <a:bodyPr wrap="square">
            <a:spAutoFit/>
          </a:bodyPr>
          <a:lstStyle/>
          <a:p>
            <a:pPr algn="r"/>
            <a:r>
              <a:rPr lang="en-US" sz="1200" b="1">
                <a:solidFill>
                  <a:schemeClr val="tx1"/>
                </a:solidFill>
                <a:latin typeface="Arial" panose="020B0604020202020204" pitchFamily="34" charset="0"/>
                <a:cs typeface="Arial" panose="020B0604020202020204" pitchFamily="34" charset="0"/>
              </a:rPr>
              <a:t>slab: 150nm</a:t>
            </a:r>
            <a:endParaRPr lang="en-US" sz="1200">
              <a:solidFill>
                <a:schemeClr val="tx1"/>
              </a:solidFill>
              <a:latin typeface="Arial" panose="020B0604020202020204" pitchFamily="34" charset="0"/>
              <a:cs typeface="Arial" panose="020B0604020202020204" pitchFamily="34" charset="0"/>
            </a:endParaRPr>
          </a:p>
        </p:txBody>
      </p:sp>
      <p:sp>
        <p:nvSpPr>
          <p:cNvPr id="11" name="CasellaDiTesto 10">
            <a:extLst>
              <a:ext uri="{FF2B5EF4-FFF2-40B4-BE49-F238E27FC236}">
                <a16:creationId xmlns:a16="http://schemas.microsoft.com/office/drawing/2014/main" id="{08855F7A-94F0-F3B4-1F6E-973EE0F78174}"/>
              </a:ext>
            </a:extLst>
          </p:cNvPr>
          <p:cNvSpPr txBox="1"/>
          <p:nvPr/>
        </p:nvSpPr>
        <p:spPr>
          <a:xfrm>
            <a:off x="128582" y="4069186"/>
            <a:ext cx="11937469"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400" dirty="0">
                <a:latin typeface="Arial"/>
                <a:cs typeface="Arial"/>
              </a:rPr>
              <a:t>For deep </a:t>
            </a:r>
            <a:r>
              <a:rPr lang="it-IT" sz="1400" err="1">
                <a:latin typeface="Arial"/>
                <a:cs typeface="Arial"/>
              </a:rPr>
              <a:t>waveguide</a:t>
            </a:r>
            <a:r>
              <a:rPr lang="it-IT" sz="1400" dirty="0">
                <a:latin typeface="Arial"/>
                <a:cs typeface="Arial"/>
              </a:rPr>
              <a:t> for TE0 mode n1=1.6049 n2=-0.2161 n3=0.0973 the group index for TE0 mode </a:t>
            </a:r>
            <a:r>
              <a:rPr lang="it-IT" sz="1400" err="1">
                <a:latin typeface="Arial"/>
                <a:cs typeface="Arial"/>
              </a:rPr>
              <a:t>is</a:t>
            </a:r>
            <a:r>
              <a:rPr lang="it-IT" sz="1400" dirty="0">
                <a:latin typeface="Arial"/>
                <a:cs typeface="Arial"/>
              </a:rPr>
              <a:t> ng=1.9399 the </a:t>
            </a:r>
            <a:r>
              <a:rPr lang="it-IT" sz="1400" err="1">
                <a:latin typeface="Arial"/>
                <a:cs typeface="Arial"/>
              </a:rPr>
              <a:t>dispersion</a:t>
            </a:r>
            <a:r>
              <a:rPr lang="it-IT" sz="1400" dirty="0">
                <a:latin typeface="Arial"/>
                <a:cs typeface="Arial"/>
              </a:rPr>
              <a:t> for TE0 mode </a:t>
            </a:r>
            <a:r>
              <a:rPr lang="it-IT" sz="1400" err="1">
                <a:latin typeface="Arial"/>
                <a:cs typeface="Arial"/>
              </a:rPr>
              <a:t>is</a:t>
            </a:r>
            <a:r>
              <a:rPr lang="it-IT" sz="1400" dirty="0">
                <a:latin typeface="Arial"/>
                <a:cs typeface="Arial"/>
              </a:rPr>
              <a:t> D=1.0067e-15 for TM0 mode n1=1.5271 n2=-0.1579 n3=0.15383 the group index for TM0 mode </a:t>
            </a:r>
            <a:r>
              <a:rPr lang="it-IT" sz="1400" err="1">
                <a:latin typeface="Arial"/>
                <a:cs typeface="Arial"/>
              </a:rPr>
              <a:t>is</a:t>
            </a:r>
            <a:r>
              <a:rPr lang="it-IT" sz="1400" dirty="0">
                <a:latin typeface="Arial"/>
                <a:cs typeface="Arial"/>
              </a:rPr>
              <a:t> ng=1.7720 the </a:t>
            </a:r>
            <a:r>
              <a:rPr lang="it-IT" sz="1400" err="1">
                <a:latin typeface="Arial"/>
                <a:cs typeface="Arial"/>
              </a:rPr>
              <a:t>dispersion</a:t>
            </a:r>
            <a:r>
              <a:rPr lang="it-IT" sz="1400" dirty="0">
                <a:latin typeface="Arial"/>
                <a:cs typeface="Arial"/>
              </a:rPr>
              <a:t> for TE0 mode </a:t>
            </a:r>
            <a:r>
              <a:rPr lang="it-IT" sz="1400" err="1">
                <a:latin typeface="Arial"/>
                <a:cs typeface="Arial"/>
              </a:rPr>
              <a:t>is</a:t>
            </a:r>
            <a:r>
              <a:rPr lang="it-IT" sz="1400" dirty="0">
                <a:latin typeface="Arial"/>
                <a:cs typeface="Arial"/>
              </a:rPr>
              <a:t> D=1.5906e-15. </a:t>
            </a:r>
            <a:r>
              <a:rPr lang="it-IT" sz="1400" dirty="0">
                <a:latin typeface="Arial"/>
                <a:ea typeface="Calibri"/>
                <a:cs typeface="Arial"/>
              </a:rPr>
              <a:t>For the </a:t>
            </a:r>
            <a:r>
              <a:rPr lang="it-IT" sz="1400" err="1">
                <a:latin typeface="Arial"/>
                <a:ea typeface="Calibri"/>
                <a:cs typeface="Arial"/>
              </a:rPr>
              <a:t>shallow</a:t>
            </a:r>
            <a:r>
              <a:rPr lang="it-IT" sz="1400" dirty="0">
                <a:latin typeface="Arial"/>
                <a:ea typeface="Calibri"/>
                <a:cs typeface="Arial"/>
              </a:rPr>
              <a:t> </a:t>
            </a:r>
            <a:r>
              <a:rPr lang="it-IT" sz="1400" err="1">
                <a:latin typeface="Arial"/>
                <a:ea typeface="Calibri"/>
                <a:cs typeface="Arial"/>
              </a:rPr>
              <a:t>waveguide</a:t>
            </a:r>
            <a:r>
              <a:rPr lang="it-IT" sz="1400" dirty="0">
                <a:latin typeface="Arial"/>
                <a:ea typeface="Calibri"/>
                <a:cs typeface="Arial"/>
              </a:rPr>
              <a:t>, </a:t>
            </a:r>
            <a:r>
              <a:rPr lang="it-IT" sz="1400" err="1">
                <a:latin typeface="Arial"/>
                <a:ea typeface="Calibri"/>
                <a:cs typeface="Arial"/>
              </a:rPr>
              <a:t>which</a:t>
            </a:r>
            <a:r>
              <a:rPr lang="it-IT" sz="1400" dirty="0">
                <a:latin typeface="Arial"/>
                <a:ea typeface="Calibri"/>
                <a:cs typeface="Arial"/>
              </a:rPr>
              <a:t> </a:t>
            </a:r>
            <a:r>
              <a:rPr lang="it-IT" sz="1400" err="1">
                <a:latin typeface="Arial"/>
                <a:ea typeface="Calibri"/>
                <a:cs typeface="Arial"/>
              </a:rPr>
              <a:t>has</a:t>
            </a:r>
            <a:r>
              <a:rPr lang="it-IT" sz="1400" dirty="0">
                <a:latin typeface="Arial"/>
                <a:ea typeface="Calibri"/>
                <a:cs typeface="Arial"/>
              </a:rPr>
              <a:t> a </a:t>
            </a:r>
            <a:r>
              <a:rPr lang="it-IT" sz="1400" err="1">
                <a:latin typeface="Arial"/>
                <a:ea typeface="Calibri"/>
                <a:cs typeface="Arial"/>
              </a:rPr>
              <a:t>slab</a:t>
            </a:r>
            <a:r>
              <a:rPr lang="it-IT" sz="1400" dirty="0">
                <a:latin typeface="Arial"/>
                <a:ea typeface="Calibri"/>
                <a:cs typeface="Arial"/>
              </a:rPr>
              <a:t> of 150 nm, or TE0 mode n1=1.6241 n2=-0.1882 n3=0.0956 the group index for TE0 mode </a:t>
            </a:r>
            <a:r>
              <a:rPr lang="it-IT" sz="1400" err="1">
                <a:latin typeface="Arial"/>
                <a:ea typeface="Calibri"/>
                <a:cs typeface="Arial"/>
              </a:rPr>
              <a:t>is</a:t>
            </a:r>
            <a:r>
              <a:rPr lang="it-IT" sz="1400" dirty="0">
                <a:latin typeface="Arial"/>
                <a:ea typeface="Calibri"/>
                <a:cs typeface="Arial"/>
              </a:rPr>
              <a:t> ng=1.9157 the </a:t>
            </a:r>
            <a:r>
              <a:rPr lang="it-IT" sz="1400" err="1">
                <a:latin typeface="Arial"/>
                <a:ea typeface="Calibri"/>
                <a:cs typeface="Arial"/>
              </a:rPr>
              <a:t>dispersion</a:t>
            </a:r>
            <a:r>
              <a:rPr lang="it-IT" sz="1400" dirty="0">
                <a:latin typeface="Arial"/>
                <a:ea typeface="Calibri"/>
                <a:cs typeface="Arial"/>
              </a:rPr>
              <a:t> for TE0 mode </a:t>
            </a:r>
            <a:r>
              <a:rPr lang="it-IT" sz="1400" err="1">
                <a:latin typeface="Arial"/>
                <a:ea typeface="Calibri"/>
                <a:cs typeface="Arial"/>
              </a:rPr>
              <a:t>is</a:t>
            </a:r>
            <a:r>
              <a:rPr lang="it-IT" sz="1400" dirty="0">
                <a:latin typeface="Arial"/>
                <a:ea typeface="Calibri"/>
                <a:cs typeface="Arial"/>
              </a:rPr>
              <a:t> D=9.8954e-16 for TM0 mode n1=1.5418 n2=-0.1326 n3=0.1480 the group index for TM0 mode </a:t>
            </a:r>
            <a:r>
              <a:rPr lang="it-IT" sz="1400" err="1">
                <a:latin typeface="Arial"/>
                <a:ea typeface="Calibri"/>
                <a:cs typeface="Arial"/>
              </a:rPr>
              <a:t>is</a:t>
            </a:r>
            <a:r>
              <a:rPr lang="it-IT" sz="1400" dirty="0">
                <a:latin typeface="Arial"/>
                <a:ea typeface="Calibri"/>
                <a:cs typeface="Arial"/>
              </a:rPr>
              <a:t> ng=1.7474 the </a:t>
            </a:r>
            <a:r>
              <a:rPr lang="it-IT" sz="1400" err="1">
                <a:latin typeface="Arial"/>
                <a:ea typeface="Calibri"/>
                <a:cs typeface="Arial"/>
              </a:rPr>
              <a:t>dispersion</a:t>
            </a:r>
            <a:r>
              <a:rPr lang="it-IT" sz="1400" dirty="0">
                <a:latin typeface="Arial"/>
                <a:ea typeface="Calibri"/>
                <a:cs typeface="Arial"/>
              </a:rPr>
              <a:t> for TM0 mode </a:t>
            </a:r>
            <a:r>
              <a:rPr lang="it-IT" sz="1400" err="1">
                <a:latin typeface="Arial"/>
                <a:ea typeface="Calibri"/>
                <a:cs typeface="Arial"/>
              </a:rPr>
              <a:t>is</a:t>
            </a:r>
            <a:r>
              <a:rPr lang="it-IT" sz="1400" dirty="0">
                <a:latin typeface="Arial"/>
                <a:ea typeface="Calibri"/>
                <a:cs typeface="Arial"/>
              </a:rPr>
              <a:t> D=1.5305e-15.</a:t>
            </a:r>
          </a:p>
          <a:p>
            <a:r>
              <a:rPr lang="it-IT" sz="1400" err="1">
                <a:latin typeface="Arial"/>
                <a:cs typeface="Arial"/>
              </a:rPr>
              <a:t>As</a:t>
            </a:r>
            <a:r>
              <a:rPr lang="it-IT" sz="1400" dirty="0">
                <a:latin typeface="Arial"/>
                <a:cs typeface="Arial"/>
              </a:rPr>
              <a:t> </a:t>
            </a:r>
            <a:r>
              <a:rPr lang="it-IT" sz="1400" err="1">
                <a:latin typeface="Arial"/>
                <a:cs typeface="Arial"/>
              </a:rPr>
              <a:t>previously</a:t>
            </a:r>
            <a:r>
              <a:rPr lang="it-IT" sz="1400" dirty="0">
                <a:latin typeface="Arial"/>
                <a:cs typeface="Arial"/>
              </a:rPr>
              <a:t> </a:t>
            </a:r>
            <a:r>
              <a:rPr lang="it-IT" sz="1400" err="1">
                <a:latin typeface="Arial"/>
                <a:cs typeface="Arial"/>
              </a:rPr>
              <a:t>commented</a:t>
            </a:r>
            <a:r>
              <a:rPr lang="it-IT" sz="1400" dirty="0">
                <a:latin typeface="Arial"/>
                <a:cs typeface="Arial"/>
              </a:rPr>
              <a:t> for n1 the index </a:t>
            </a:r>
            <a:r>
              <a:rPr lang="it-IT" sz="1400" err="1">
                <a:latin typeface="Arial"/>
                <a:cs typeface="Arial"/>
              </a:rPr>
              <a:t>is</a:t>
            </a:r>
            <a:r>
              <a:rPr lang="it-IT" sz="1400" dirty="0">
                <a:latin typeface="Arial"/>
                <a:cs typeface="Arial"/>
              </a:rPr>
              <a:t> </a:t>
            </a:r>
            <a:r>
              <a:rPr lang="it-IT" sz="1400" err="1">
                <a:latin typeface="Arial"/>
                <a:cs typeface="Arial"/>
              </a:rPr>
              <a:t>higher</a:t>
            </a:r>
            <a:r>
              <a:rPr lang="it-IT" sz="1400" dirty="0">
                <a:latin typeface="Arial"/>
                <a:cs typeface="Arial"/>
              </a:rPr>
              <a:t> for te mode </a:t>
            </a:r>
            <a:r>
              <a:rPr lang="it-IT" sz="1400" err="1">
                <a:latin typeface="Arial"/>
                <a:cs typeface="Arial"/>
              </a:rPr>
              <a:t>thanit</a:t>
            </a:r>
            <a:r>
              <a:rPr lang="it-IT" sz="1400" dirty="0">
                <a:latin typeface="Arial"/>
                <a:cs typeface="Arial"/>
              </a:rPr>
              <a:t> </a:t>
            </a:r>
            <a:r>
              <a:rPr lang="it-IT" sz="1400" err="1">
                <a:latin typeface="Arial"/>
                <a:cs typeface="Arial"/>
              </a:rPr>
              <a:t>is</a:t>
            </a:r>
            <a:r>
              <a:rPr lang="it-IT" sz="1400" dirty="0">
                <a:latin typeface="Arial"/>
                <a:cs typeface="Arial"/>
              </a:rPr>
              <a:t> for tm </a:t>
            </a:r>
            <a:r>
              <a:rPr lang="it-IT" sz="1400" err="1">
                <a:latin typeface="Arial"/>
                <a:cs typeface="Arial"/>
              </a:rPr>
              <a:t>because</a:t>
            </a:r>
            <a:r>
              <a:rPr lang="it-IT" sz="1400" dirty="0">
                <a:latin typeface="Arial"/>
                <a:cs typeface="Arial"/>
              </a:rPr>
              <a:t> the </a:t>
            </a:r>
            <a:r>
              <a:rPr lang="it-IT" sz="1400" err="1">
                <a:latin typeface="Arial"/>
                <a:cs typeface="Arial"/>
              </a:rPr>
              <a:t>slab</a:t>
            </a:r>
            <a:r>
              <a:rPr lang="it-IT" sz="1400" dirty="0">
                <a:latin typeface="Arial"/>
                <a:cs typeface="Arial"/>
              </a:rPr>
              <a:t> </a:t>
            </a:r>
            <a:r>
              <a:rPr lang="it-IT" sz="1400" err="1">
                <a:latin typeface="Arial"/>
                <a:cs typeface="Arial"/>
              </a:rPr>
              <a:t>is</a:t>
            </a:r>
            <a:r>
              <a:rPr lang="it-IT" sz="1400" dirty="0">
                <a:latin typeface="Arial"/>
                <a:cs typeface="Arial"/>
              </a:rPr>
              <a:t> </a:t>
            </a:r>
            <a:r>
              <a:rPr lang="it-IT" sz="1400" err="1">
                <a:latin typeface="Arial"/>
                <a:cs typeface="Arial"/>
              </a:rPr>
              <a:t>wider</a:t>
            </a:r>
            <a:r>
              <a:rPr lang="it-IT" sz="1400" dirty="0">
                <a:latin typeface="Arial"/>
                <a:cs typeface="Arial"/>
              </a:rPr>
              <a:t> </a:t>
            </a:r>
            <a:r>
              <a:rPr lang="it-IT" sz="1400" err="1">
                <a:latin typeface="Arial"/>
                <a:cs typeface="Arial"/>
              </a:rPr>
              <a:t>than</a:t>
            </a:r>
            <a:r>
              <a:rPr lang="it-IT" sz="1400" dirty="0">
                <a:latin typeface="Arial"/>
                <a:cs typeface="Arial"/>
              </a:rPr>
              <a:t> </a:t>
            </a:r>
            <a:r>
              <a:rPr lang="it-IT" sz="1400" err="1">
                <a:latin typeface="Arial"/>
                <a:cs typeface="Arial"/>
              </a:rPr>
              <a:t>taller</a:t>
            </a:r>
            <a:r>
              <a:rPr lang="it-IT" sz="1400" dirty="0">
                <a:latin typeface="Arial"/>
                <a:cs typeface="Arial"/>
              </a:rPr>
              <a:t> and te </a:t>
            </a:r>
            <a:r>
              <a:rPr lang="it-IT" sz="1400" err="1">
                <a:latin typeface="Arial"/>
                <a:cs typeface="Arial"/>
              </a:rPr>
              <a:t>is</a:t>
            </a:r>
            <a:r>
              <a:rPr lang="it-IT" sz="1400" dirty="0">
                <a:latin typeface="Arial"/>
                <a:cs typeface="Arial"/>
              </a:rPr>
              <a:t> </a:t>
            </a:r>
            <a:r>
              <a:rPr lang="it-IT" sz="1400" err="1">
                <a:latin typeface="Arial"/>
                <a:cs typeface="Arial"/>
              </a:rPr>
              <a:t>polarized</a:t>
            </a:r>
            <a:r>
              <a:rPr lang="it-IT" sz="1400" dirty="0">
                <a:latin typeface="Arial"/>
                <a:cs typeface="Arial"/>
              </a:rPr>
              <a:t> </a:t>
            </a:r>
            <a:r>
              <a:rPr lang="it-IT" sz="1400" err="1">
                <a:latin typeface="Arial"/>
                <a:cs typeface="Arial"/>
              </a:rPr>
              <a:t>horizontally</a:t>
            </a:r>
            <a:r>
              <a:rPr lang="it-IT" sz="1400" dirty="0">
                <a:latin typeface="Arial"/>
                <a:cs typeface="Arial"/>
              </a:rPr>
              <a:t>. The </a:t>
            </a:r>
            <a:r>
              <a:rPr lang="it-IT" sz="1400" err="1">
                <a:latin typeface="Arial"/>
                <a:cs typeface="Arial"/>
              </a:rPr>
              <a:t>shallow</a:t>
            </a:r>
            <a:r>
              <a:rPr lang="it-IT" sz="1400" dirty="0">
                <a:latin typeface="Arial"/>
                <a:cs typeface="Arial"/>
              </a:rPr>
              <a:t> </a:t>
            </a:r>
            <a:r>
              <a:rPr lang="it-IT" sz="1400" err="1">
                <a:latin typeface="Arial"/>
                <a:cs typeface="Arial"/>
              </a:rPr>
              <a:t>waveguide</a:t>
            </a:r>
            <a:r>
              <a:rPr lang="it-IT" sz="1400" dirty="0">
                <a:latin typeface="Arial"/>
                <a:cs typeface="Arial"/>
              </a:rPr>
              <a:t> </a:t>
            </a:r>
            <a:r>
              <a:rPr lang="it-IT" sz="1400" err="1">
                <a:latin typeface="Arial"/>
                <a:cs typeface="Arial"/>
              </a:rPr>
              <a:t>also</a:t>
            </a:r>
            <a:r>
              <a:rPr lang="it-IT" sz="1400" dirty="0">
                <a:latin typeface="Arial"/>
                <a:cs typeface="Arial"/>
              </a:rPr>
              <a:t> </a:t>
            </a:r>
            <a:r>
              <a:rPr lang="it-IT" sz="1400" err="1">
                <a:latin typeface="Arial"/>
                <a:cs typeface="Arial"/>
              </a:rPr>
              <a:t>provides</a:t>
            </a:r>
            <a:r>
              <a:rPr lang="it-IT" sz="1400" dirty="0">
                <a:latin typeface="Arial"/>
                <a:cs typeface="Arial"/>
              </a:rPr>
              <a:t> </a:t>
            </a:r>
            <a:r>
              <a:rPr lang="it-IT" sz="1400" err="1">
                <a:latin typeface="Arial"/>
                <a:cs typeface="Arial"/>
              </a:rPr>
              <a:t>better</a:t>
            </a:r>
            <a:r>
              <a:rPr lang="it-IT" sz="1400" dirty="0">
                <a:latin typeface="Arial"/>
                <a:cs typeface="Arial"/>
              </a:rPr>
              <a:t> </a:t>
            </a:r>
            <a:r>
              <a:rPr lang="it-IT" sz="1400" err="1">
                <a:latin typeface="Arial"/>
                <a:cs typeface="Arial"/>
              </a:rPr>
              <a:t>confinement</a:t>
            </a:r>
            <a:r>
              <a:rPr lang="it-IT" sz="1400" dirty="0">
                <a:latin typeface="Arial"/>
                <a:cs typeface="Arial"/>
              </a:rPr>
              <a:t> by </a:t>
            </a:r>
            <a:r>
              <a:rPr lang="it-IT" sz="1400" err="1">
                <a:latin typeface="Arial"/>
                <a:cs typeface="Arial"/>
              </a:rPr>
              <a:t>introducing</a:t>
            </a:r>
            <a:r>
              <a:rPr lang="it-IT" sz="1400" dirty="0">
                <a:latin typeface="Arial"/>
                <a:cs typeface="Arial"/>
              </a:rPr>
              <a:t> a </a:t>
            </a:r>
            <a:r>
              <a:rPr lang="it-IT" sz="1400" err="1">
                <a:latin typeface="Arial"/>
                <a:cs typeface="Arial"/>
              </a:rPr>
              <a:t>slab</a:t>
            </a:r>
            <a:r>
              <a:rPr lang="it-IT" sz="1400" dirty="0">
                <a:latin typeface="Arial"/>
                <a:cs typeface="Arial"/>
              </a:rPr>
              <a:t> of </a:t>
            </a:r>
            <a:r>
              <a:rPr lang="it-IT" sz="1400" dirty="0">
                <a:latin typeface="Arial"/>
                <a:ea typeface="Calibri"/>
                <a:cs typeface="Arial"/>
              </a:rPr>
              <a:t>high index </a:t>
            </a:r>
            <a:r>
              <a:rPr lang="it-IT" sz="1400" err="1">
                <a:latin typeface="Arial"/>
                <a:ea typeface="Calibri"/>
                <a:cs typeface="Arial"/>
              </a:rPr>
              <a:t>material</a:t>
            </a:r>
            <a:r>
              <a:rPr lang="it-IT" sz="1400" dirty="0">
                <a:latin typeface="Arial"/>
                <a:ea typeface="Calibri"/>
                <a:cs typeface="Arial"/>
              </a:rPr>
              <a:t> </a:t>
            </a:r>
            <a:r>
              <a:rPr lang="it-IT" sz="1400" err="1">
                <a:latin typeface="Arial"/>
                <a:ea typeface="Calibri"/>
                <a:cs typeface="Arial"/>
              </a:rPr>
              <a:t>around</a:t>
            </a:r>
            <a:r>
              <a:rPr lang="it-IT" sz="1400" dirty="0">
                <a:latin typeface="Arial"/>
                <a:ea typeface="Calibri"/>
                <a:cs typeface="Arial"/>
              </a:rPr>
              <a:t> the core. The group index ng </a:t>
            </a:r>
            <a:r>
              <a:rPr lang="it-IT" sz="1400" err="1">
                <a:latin typeface="Arial"/>
                <a:ea typeface="Calibri"/>
                <a:cs typeface="Arial"/>
              </a:rPr>
              <a:t>is</a:t>
            </a:r>
            <a:r>
              <a:rPr lang="it-IT" sz="1400" dirty="0">
                <a:latin typeface="Arial"/>
                <a:ea typeface="Calibri"/>
                <a:cs typeface="Arial"/>
              </a:rPr>
              <a:t> </a:t>
            </a:r>
            <a:r>
              <a:rPr lang="it-IT" sz="1400" err="1">
                <a:latin typeface="Arial"/>
                <a:ea typeface="Calibri"/>
                <a:cs typeface="Arial"/>
              </a:rPr>
              <a:t>lower</a:t>
            </a:r>
            <a:r>
              <a:rPr lang="it-IT" sz="1400" dirty="0">
                <a:latin typeface="Arial"/>
                <a:ea typeface="Calibri"/>
                <a:cs typeface="Arial"/>
              </a:rPr>
              <a:t> for TM </a:t>
            </a:r>
            <a:r>
              <a:rPr lang="it-IT" sz="1400" err="1">
                <a:latin typeface="Arial"/>
                <a:ea typeface="Calibri"/>
                <a:cs typeface="Arial"/>
              </a:rPr>
              <a:t>which</a:t>
            </a:r>
            <a:r>
              <a:rPr lang="it-IT" sz="1400" dirty="0">
                <a:latin typeface="Arial"/>
                <a:ea typeface="Calibri"/>
                <a:cs typeface="Arial"/>
              </a:rPr>
              <a:t> </a:t>
            </a:r>
            <a:r>
              <a:rPr lang="it-IT" sz="1400" err="1">
                <a:latin typeface="Arial"/>
                <a:ea typeface="Calibri"/>
                <a:cs typeface="Arial"/>
              </a:rPr>
              <a:t>means</a:t>
            </a:r>
            <a:r>
              <a:rPr lang="it-IT" sz="1400" dirty="0">
                <a:latin typeface="Arial"/>
                <a:ea typeface="Calibri"/>
                <a:cs typeface="Arial"/>
              </a:rPr>
              <a:t> </a:t>
            </a:r>
            <a:r>
              <a:rPr lang="it-IT" sz="1400" err="1">
                <a:latin typeface="Arial"/>
                <a:ea typeface="Calibri"/>
                <a:cs typeface="Arial"/>
              </a:rPr>
              <a:t>this</a:t>
            </a:r>
            <a:r>
              <a:rPr lang="it-IT" sz="1400" dirty="0">
                <a:latin typeface="Arial"/>
                <a:ea typeface="Calibri"/>
                <a:cs typeface="Arial"/>
              </a:rPr>
              <a:t> mode travels </a:t>
            </a:r>
            <a:r>
              <a:rPr lang="it-IT" sz="1400" err="1">
                <a:latin typeface="Arial"/>
                <a:ea typeface="Calibri"/>
                <a:cs typeface="Arial"/>
              </a:rPr>
              <a:t>slightly</a:t>
            </a:r>
            <a:r>
              <a:rPr lang="it-IT" sz="1400" dirty="0">
                <a:latin typeface="Arial"/>
                <a:ea typeface="Calibri"/>
                <a:cs typeface="Arial"/>
              </a:rPr>
              <a:t> </a:t>
            </a:r>
            <a:r>
              <a:rPr lang="it-IT" sz="1400" err="1">
                <a:latin typeface="Arial"/>
                <a:ea typeface="Calibri"/>
                <a:cs typeface="Arial"/>
              </a:rPr>
              <a:t>faster</a:t>
            </a:r>
            <a:r>
              <a:rPr lang="it-IT" sz="1400" dirty="0">
                <a:latin typeface="Arial"/>
                <a:ea typeface="Calibri"/>
                <a:cs typeface="Arial"/>
              </a:rPr>
              <a:t> </a:t>
            </a:r>
            <a:r>
              <a:rPr lang="it-IT" sz="1400" err="1">
                <a:latin typeface="Arial"/>
                <a:ea typeface="Calibri"/>
                <a:cs typeface="Arial"/>
              </a:rPr>
              <a:t>than</a:t>
            </a:r>
            <a:r>
              <a:rPr lang="it-IT" sz="1400" dirty="0">
                <a:latin typeface="Arial"/>
                <a:ea typeface="Calibri"/>
                <a:cs typeface="Arial"/>
              </a:rPr>
              <a:t> TE in </a:t>
            </a:r>
            <a:r>
              <a:rPr lang="it-IT" sz="1400" err="1">
                <a:latin typeface="Arial"/>
                <a:ea typeface="Calibri"/>
                <a:cs typeface="Arial"/>
              </a:rPr>
              <a:t>this</a:t>
            </a:r>
            <a:r>
              <a:rPr lang="it-IT" sz="1400" dirty="0">
                <a:latin typeface="Arial"/>
                <a:ea typeface="Calibri"/>
                <a:cs typeface="Arial"/>
              </a:rPr>
              <a:t> </a:t>
            </a:r>
            <a:r>
              <a:rPr lang="it-IT" sz="1400" err="1">
                <a:latin typeface="Arial"/>
                <a:ea typeface="Calibri"/>
                <a:cs typeface="Arial"/>
              </a:rPr>
              <a:t>waveguide</a:t>
            </a:r>
            <a:r>
              <a:rPr lang="it-IT" sz="1400" dirty="0">
                <a:latin typeface="Arial"/>
                <a:ea typeface="Calibri"/>
                <a:cs typeface="Arial"/>
              </a:rPr>
              <a:t> and the </a:t>
            </a:r>
            <a:r>
              <a:rPr lang="it-IT" sz="1400" err="1">
                <a:latin typeface="Arial"/>
                <a:ea typeface="Calibri"/>
                <a:cs typeface="Arial"/>
              </a:rPr>
              <a:t>presence</a:t>
            </a:r>
            <a:r>
              <a:rPr lang="it-IT" sz="1400" dirty="0">
                <a:latin typeface="Arial"/>
                <a:ea typeface="Calibri"/>
                <a:cs typeface="Arial"/>
              </a:rPr>
              <a:t> of the </a:t>
            </a:r>
            <a:r>
              <a:rPr lang="it-IT" sz="1400" err="1">
                <a:latin typeface="Arial"/>
                <a:ea typeface="Calibri"/>
                <a:cs typeface="Arial"/>
              </a:rPr>
              <a:t>slab</a:t>
            </a:r>
            <a:r>
              <a:rPr lang="it-IT" sz="1400" dirty="0">
                <a:latin typeface="Arial"/>
                <a:ea typeface="Calibri"/>
                <a:cs typeface="Arial"/>
              </a:rPr>
              <a:t> </a:t>
            </a:r>
            <a:r>
              <a:rPr lang="it-IT" sz="1400" err="1">
                <a:latin typeface="Arial"/>
                <a:ea typeface="Calibri"/>
                <a:cs typeface="Arial"/>
              </a:rPr>
              <a:t>decreases</a:t>
            </a:r>
            <a:r>
              <a:rPr lang="it-IT" sz="1400" dirty="0">
                <a:latin typeface="Arial"/>
                <a:ea typeface="Calibri"/>
                <a:cs typeface="Arial"/>
              </a:rPr>
              <a:t> ng, </a:t>
            </a:r>
            <a:r>
              <a:rPr lang="it-IT" sz="1400" err="1">
                <a:latin typeface="Arial"/>
                <a:ea typeface="Calibri"/>
                <a:cs typeface="Arial"/>
              </a:rPr>
              <a:t>helping</a:t>
            </a:r>
            <a:r>
              <a:rPr lang="it-IT" sz="1400" dirty="0">
                <a:latin typeface="Arial"/>
                <a:ea typeface="Calibri"/>
                <a:cs typeface="Arial"/>
              </a:rPr>
              <a:t> to </a:t>
            </a:r>
            <a:r>
              <a:rPr lang="it-IT" sz="1400" err="1">
                <a:latin typeface="Arial"/>
                <a:ea typeface="Calibri"/>
                <a:cs typeface="Arial"/>
              </a:rPr>
              <a:t>limit</a:t>
            </a:r>
            <a:r>
              <a:rPr lang="it-IT" sz="1400" dirty="0">
                <a:latin typeface="Arial"/>
                <a:ea typeface="Calibri"/>
                <a:cs typeface="Arial"/>
              </a:rPr>
              <a:t> the </a:t>
            </a:r>
            <a:r>
              <a:rPr lang="it-IT" sz="1400" err="1">
                <a:latin typeface="Arial"/>
                <a:ea typeface="Calibri"/>
                <a:cs typeface="Arial"/>
              </a:rPr>
              <a:t>dependancy</a:t>
            </a:r>
            <a:r>
              <a:rPr lang="it-IT" sz="1400" dirty="0">
                <a:latin typeface="Arial"/>
                <a:ea typeface="Calibri"/>
                <a:cs typeface="Arial"/>
              </a:rPr>
              <a:t> on the </a:t>
            </a:r>
            <a:r>
              <a:rPr lang="it-IT" sz="1400" err="1">
                <a:latin typeface="Arial"/>
                <a:ea typeface="Calibri"/>
                <a:cs typeface="Arial"/>
              </a:rPr>
              <a:t>wavelength</a:t>
            </a:r>
            <a:r>
              <a:rPr lang="it-IT" sz="1400" dirty="0">
                <a:latin typeface="Arial"/>
                <a:ea typeface="Calibri"/>
                <a:cs typeface="Arial"/>
              </a:rPr>
              <a:t> and </a:t>
            </a:r>
            <a:r>
              <a:rPr lang="it-IT" sz="1400" err="1">
                <a:latin typeface="Arial"/>
                <a:ea typeface="Calibri"/>
                <a:cs typeface="Arial"/>
              </a:rPr>
              <a:t>improving</a:t>
            </a:r>
            <a:r>
              <a:rPr lang="it-IT" sz="1400" dirty="0">
                <a:latin typeface="Arial"/>
                <a:ea typeface="Calibri"/>
                <a:cs typeface="Arial"/>
              </a:rPr>
              <a:t> the group </a:t>
            </a:r>
            <a:r>
              <a:rPr lang="it-IT" sz="1400" err="1">
                <a:latin typeface="Arial"/>
                <a:ea typeface="Calibri"/>
                <a:cs typeface="Arial"/>
              </a:rPr>
              <a:t>velocity</a:t>
            </a:r>
            <a:r>
              <a:rPr lang="it-IT" sz="1400" dirty="0">
                <a:latin typeface="Arial"/>
                <a:ea typeface="Calibri"/>
                <a:cs typeface="Arial"/>
              </a:rPr>
              <a:t>.</a:t>
            </a:r>
          </a:p>
          <a:p>
            <a:r>
              <a:rPr lang="it-IT" sz="1400" err="1">
                <a:latin typeface="Arial"/>
                <a:ea typeface="Calibri"/>
                <a:cs typeface="Arial"/>
              </a:rPr>
              <a:t>Lastly</a:t>
            </a:r>
            <a:r>
              <a:rPr lang="it-IT" sz="1400" dirty="0">
                <a:latin typeface="Arial"/>
                <a:ea typeface="Calibri"/>
                <a:cs typeface="Arial"/>
              </a:rPr>
              <a:t> the </a:t>
            </a:r>
            <a:r>
              <a:rPr lang="it-IT" sz="1400" err="1">
                <a:latin typeface="Arial"/>
                <a:ea typeface="Calibri"/>
                <a:cs typeface="Arial"/>
              </a:rPr>
              <a:t>dispersion</a:t>
            </a:r>
            <a:r>
              <a:rPr lang="it-IT" sz="1400" dirty="0">
                <a:latin typeface="Arial"/>
                <a:ea typeface="Calibri"/>
                <a:cs typeface="Arial"/>
              </a:rPr>
              <a:t> </a:t>
            </a:r>
            <a:r>
              <a:rPr lang="it-IT" sz="1400" err="1">
                <a:latin typeface="Arial"/>
                <a:ea typeface="Calibri"/>
                <a:cs typeface="Arial"/>
              </a:rPr>
              <a:t>coefficient</a:t>
            </a:r>
            <a:r>
              <a:rPr lang="it-IT" sz="1400" dirty="0">
                <a:latin typeface="Arial"/>
                <a:ea typeface="Calibri"/>
                <a:cs typeface="Arial"/>
              </a:rPr>
              <a:t> </a:t>
            </a:r>
            <a:r>
              <a:rPr lang="it-IT" sz="1400" err="1">
                <a:latin typeface="Arial"/>
                <a:ea typeface="Calibri"/>
                <a:cs typeface="Arial"/>
              </a:rPr>
              <a:t>is</a:t>
            </a:r>
            <a:r>
              <a:rPr lang="it-IT" sz="1400" dirty="0">
                <a:latin typeface="Arial"/>
                <a:ea typeface="Calibri"/>
                <a:cs typeface="Arial"/>
              </a:rPr>
              <a:t> </a:t>
            </a:r>
            <a:r>
              <a:rPr lang="it-IT" sz="1400" err="1">
                <a:latin typeface="Arial"/>
                <a:ea typeface="Calibri"/>
                <a:cs typeface="Arial"/>
              </a:rPr>
              <a:t>aboundantly</a:t>
            </a:r>
            <a:r>
              <a:rPr lang="it-IT" sz="1400" dirty="0">
                <a:latin typeface="Arial"/>
                <a:ea typeface="Calibri"/>
                <a:cs typeface="Arial"/>
              </a:rPr>
              <a:t> </a:t>
            </a:r>
            <a:r>
              <a:rPr lang="it-IT" sz="1400" err="1">
                <a:latin typeface="Arial"/>
                <a:ea typeface="Calibri"/>
                <a:cs typeface="Arial"/>
              </a:rPr>
              <a:t>higher</a:t>
            </a:r>
            <a:r>
              <a:rPr lang="it-IT" sz="1400" dirty="0">
                <a:latin typeface="Arial"/>
                <a:ea typeface="Calibri"/>
                <a:cs typeface="Arial"/>
              </a:rPr>
              <a:t> for TM </a:t>
            </a:r>
            <a:r>
              <a:rPr lang="it-IT" sz="1400" err="1">
                <a:latin typeface="Arial"/>
                <a:ea typeface="Calibri"/>
                <a:cs typeface="Arial"/>
              </a:rPr>
              <a:t>since</a:t>
            </a:r>
            <a:r>
              <a:rPr lang="it-IT" sz="1400" dirty="0">
                <a:latin typeface="Arial"/>
                <a:ea typeface="Calibri"/>
                <a:cs typeface="Arial"/>
              </a:rPr>
              <a:t> </a:t>
            </a:r>
            <a:r>
              <a:rPr lang="it-IT" sz="1400" err="1">
                <a:latin typeface="Arial"/>
                <a:ea typeface="Calibri"/>
                <a:cs typeface="Arial"/>
              </a:rPr>
              <a:t>this</a:t>
            </a:r>
            <a:r>
              <a:rPr lang="it-IT" sz="1400" dirty="0">
                <a:latin typeface="Arial"/>
                <a:ea typeface="Calibri"/>
                <a:cs typeface="Arial"/>
              </a:rPr>
              <a:t> mode </a:t>
            </a:r>
            <a:r>
              <a:rPr lang="it-IT" sz="1400" err="1">
                <a:latin typeface="Arial"/>
                <a:ea typeface="Calibri"/>
                <a:cs typeface="Arial"/>
              </a:rPr>
              <a:t>is</a:t>
            </a:r>
            <a:r>
              <a:rPr lang="it-IT" sz="1400" dirty="0">
                <a:latin typeface="Arial"/>
                <a:ea typeface="Calibri"/>
                <a:cs typeface="Arial"/>
              </a:rPr>
              <a:t> </a:t>
            </a:r>
            <a:r>
              <a:rPr lang="it-IT" sz="1400" err="1">
                <a:latin typeface="Arial"/>
                <a:ea typeface="Calibri"/>
                <a:cs typeface="Arial"/>
              </a:rPr>
              <a:t>closer</a:t>
            </a:r>
            <a:r>
              <a:rPr lang="it-IT" sz="1400" dirty="0">
                <a:latin typeface="Arial"/>
                <a:ea typeface="Calibri"/>
                <a:cs typeface="Arial"/>
              </a:rPr>
              <a:t> to the cutoff frequency, </a:t>
            </a:r>
            <a:r>
              <a:rPr lang="it-IT" sz="1400" err="1">
                <a:latin typeface="Arial"/>
                <a:ea typeface="Calibri"/>
                <a:cs typeface="Arial"/>
              </a:rPr>
              <a:t>being</a:t>
            </a:r>
            <a:r>
              <a:rPr lang="it-IT" sz="1400" dirty="0">
                <a:latin typeface="Arial"/>
                <a:ea typeface="Calibri"/>
                <a:cs typeface="Arial"/>
              </a:rPr>
              <a:t> the frequency </a:t>
            </a:r>
            <a:r>
              <a:rPr lang="it-IT" sz="1400" err="1">
                <a:latin typeface="Arial"/>
                <a:ea typeface="Calibri"/>
                <a:cs typeface="Arial"/>
              </a:rPr>
              <a:t>at</a:t>
            </a:r>
            <a:r>
              <a:rPr lang="it-IT" sz="1400" dirty="0">
                <a:latin typeface="Arial"/>
                <a:ea typeface="Calibri"/>
                <a:cs typeface="Arial"/>
              </a:rPr>
              <a:t> </a:t>
            </a:r>
            <a:r>
              <a:rPr lang="it-IT" sz="1400" err="1">
                <a:latin typeface="Arial"/>
                <a:ea typeface="Calibri"/>
                <a:cs typeface="Arial"/>
              </a:rPr>
              <a:t>which</a:t>
            </a:r>
            <a:r>
              <a:rPr lang="it-IT" sz="1400" dirty="0">
                <a:latin typeface="Arial"/>
                <a:ea typeface="Calibri"/>
                <a:cs typeface="Arial"/>
              </a:rPr>
              <a:t> the mode </a:t>
            </a:r>
            <a:r>
              <a:rPr lang="it-IT" sz="1400" err="1">
                <a:latin typeface="Arial"/>
                <a:ea typeface="Calibri"/>
                <a:cs typeface="Arial"/>
              </a:rPr>
              <a:t>stops</a:t>
            </a:r>
            <a:r>
              <a:rPr lang="it-IT" sz="1400" dirty="0">
                <a:latin typeface="Arial"/>
                <a:ea typeface="Calibri"/>
                <a:cs typeface="Arial"/>
              </a:rPr>
              <a:t> to be </a:t>
            </a:r>
            <a:r>
              <a:rPr lang="it-IT" sz="1400" err="1">
                <a:latin typeface="Arial"/>
                <a:ea typeface="Calibri"/>
                <a:cs typeface="Arial"/>
              </a:rPr>
              <a:t>guided</a:t>
            </a:r>
            <a:r>
              <a:rPr lang="it-IT" sz="1400" dirty="0">
                <a:latin typeface="Arial"/>
                <a:ea typeface="Calibri"/>
                <a:cs typeface="Arial"/>
              </a:rPr>
              <a:t>, and for the </a:t>
            </a:r>
            <a:r>
              <a:rPr lang="it-IT" sz="1400" err="1">
                <a:latin typeface="Arial"/>
                <a:ea typeface="Calibri"/>
                <a:cs typeface="Arial"/>
              </a:rPr>
              <a:t>same</a:t>
            </a:r>
            <a:r>
              <a:rPr lang="it-IT" sz="1400" dirty="0">
                <a:latin typeface="Arial"/>
                <a:ea typeface="Calibri"/>
                <a:cs typeface="Arial"/>
              </a:rPr>
              <a:t> </a:t>
            </a:r>
            <a:r>
              <a:rPr lang="it-IT" sz="1400" err="1">
                <a:latin typeface="Arial"/>
                <a:ea typeface="Calibri"/>
                <a:cs typeface="Arial"/>
              </a:rPr>
              <a:t>reason</a:t>
            </a:r>
            <a:r>
              <a:rPr lang="it-IT" sz="1400" dirty="0">
                <a:latin typeface="Arial"/>
                <a:ea typeface="Calibri"/>
                <a:cs typeface="Arial"/>
              </a:rPr>
              <a:t> the </a:t>
            </a:r>
            <a:r>
              <a:rPr lang="it-IT" sz="1400" err="1">
                <a:latin typeface="Arial"/>
                <a:ea typeface="Calibri"/>
                <a:cs typeface="Arial"/>
              </a:rPr>
              <a:t>presence</a:t>
            </a:r>
            <a:r>
              <a:rPr lang="it-IT" sz="1400" dirty="0">
                <a:latin typeface="Arial"/>
                <a:ea typeface="Calibri"/>
                <a:cs typeface="Arial"/>
              </a:rPr>
              <a:t> of the </a:t>
            </a:r>
            <a:r>
              <a:rPr lang="it-IT" sz="1400" err="1">
                <a:latin typeface="Arial"/>
                <a:ea typeface="Calibri"/>
                <a:cs typeface="Arial"/>
              </a:rPr>
              <a:t>slab</a:t>
            </a:r>
            <a:r>
              <a:rPr lang="it-IT" sz="1400" dirty="0">
                <a:latin typeface="Arial"/>
                <a:ea typeface="Calibri"/>
                <a:cs typeface="Arial"/>
              </a:rPr>
              <a:t> for the </a:t>
            </a:r>
            <a:r>
              <a:rPr lang="it-IT" sz="1400" err="1">
                <a:latin typeface="Arial"/>
                <a:ea typeface="Calibri"/>
                <a:cs typeface="Arial"/>
              </a:rPr>
              <a:t>shallow</a:t>
            </a:r>
            <a:r>
              <a:rPr lang="it-IT" sz="1400" dirty="0">
                <a:latin typeface="Arial"/>
                <a:ea typeface="Calibri"/>
                <a:cs typeface="Arial"/>
              </a:rPr>
              <a:t> case, helps </a:t>
            </a:r>
            <a:r>
              <a:rPr lang="it-IT" sz="1400" err="1">
                <a:latin typeface="Arial"/>
                <a:ea typeface="Calibri"/>
                <a:cs typeface="Arial"/>
              </a:rPr>
              <a:t>limiting</a:t>
            </a:r>
            <a:r>
              <a:rPr lang="it-IT" sz="1400" dirty="0">
                <a:latin typeface="Arial"/>
                <a:ea typeface="Calibri"/>
                <a:cs typeface="Arial"/>
              </a:rPr>
              <a:t> the </a:t>
            </a:r>
            <a:r>
              <a:rPr lang="it-IT" sz="1400" err="1">
                <a:latin typeface="Arial"/>
                <a:ea typeface="Calibri"/>
                <a:cs typeface="Arial"/>
              </a:rPr>
              <a:t>dispersion</a:t>
            </a:r>
            <a:r>
              <a:rPr lang="it-IT" sz="1400" dirty="0">
                <a:latin typeface="Arial"/>
                <a:ea typeface="Calibri"/>
                <a:cs typeface="Arial"/>
              </a:rPr>
              <a:t> for </a:t>
            </a:r>
            <a:r>
              <a:rPr lang="it-IT" sz="1400" err="1">
                <a:latin typeface="Arial"/>
                <a:ea typeface="Calibri"/>
                <a:cs typeface="Arial"/>
              </a:rPr>
              <a:t>both</a:t>
            </a:r>
            <a:r>
              <a:rPr lang="it-IT" sz="1400" dirty="0">
                <a:latin typeface="Arial"/>
                <a:ea typeface="Calibri"/>
                <a:cs typeface="Arial"/>
              </a:rPr>
              <a:t> </a:t>
            </a:r>
            <a:r>
              <a:rPr lang="it-IT" sz="1400" err="1">
                <a:latin typeface="Arial"/>
                <a:ea typeface="Calibri"/>
                <a:cs typeface="Arial"/>
              </a:rPr>
              <a:t>modes</a:t>
            </a:r>
            <a:r>
              <a:rPr lang="it-IT" sz="1400" dirty="0">
                <a:latin typeface="Arial"/>
                <a:ea typeface="Calibri"/>
                <a:cs typeface="Arial"/>
              </a:rPr>
              <a:t>, </a:t>
            </a:r>
            <a:r>
              <a:rPr lang="it-IT" sz="1400" err="1">
                <a:latin typeface="Arial"/>
                <a:ea typeface="Calibri"/>
                <a:cs typeface="Arial"/>
              </a:rPr>
              <a:t>since</a:t>
            </a:r>
            <a:r>
              <a:rPr lang="it-IT" sz="1400" dirty="0">
                <a:latin typeface="Arial"/>
                <a:ea typeface="Calibri"/>
                <a:cs typeface="Arial"/>
              </a:rPr>
              <a:t> </a:t>
            </a:r>
            <a:r>
              <a:rPr lang="it-IT" sz="1400" err="1">
                <a:latin typeface="Arial"/>
                <a:ea typeface="Calibri"/>
                <a:cs typeface="Arial"/>
              </a:rPr>
              <a:t>it</a:t>
            </a:r>
            <a:r>
              <a:rPr lang="it-IT" sz="1400" dirty="0">
                <a:latin typeface="Arial"/>
                <a:ea typeface="Calibri"/>
                <a:cs typeface="Arial"/>
              </a:rPr>
              <a:t> </a:t>
            </a:r>
            <a:r>
              <a:rPr lang="it-IT" sz="1400" err="1">
                <a:latin typeface="Arial"/>
                <a:ea typeface="Calibri"/>
                <a:cs typeface="Arial"/>
              </a:rPr>
              <a:t>improves</a:t>
            </a:r>
            <a:r>
              <a:rPr lang="it-IT" sz="1400" dirty="0">
                <a:latin typeface="Arial"/>
                <a:ea typeface="Calibri"/>
                <a:cs typeface="Arial"/>
              </a:rPr>
              <a:t> </a:t>
            </a:r>
            <a:r>
              <a:rPr lang="it-IT" sz="1400" err="1">
                <a:latin typeface="Arial"/>
                <a:ea typeface="Calibri"/>
                <a:cs typeface="Arial"/>
              </a:rPr>
              <a:t>their</a:t>
            </a:r>
            <a:r>
              <a:rPr lang="it-IT" sz="1400" dirty="0">
                <a:latin typeface="Arial"/>
                <a:ea typeface="Calibri"/>
                <a:cs typeface="Arial"/>
              </a:rPr>
              <a:t> </a:t>
            </a:r>
            <a:r>
              <a:rPr lang="it-IT" sz="1400" err="1">
                <a:latin typeface="Arial"/>
                <a:ea typeface="Calibri"/>
                <a:cs typeface="Arial"/>
              </a:rPr>
              <a:t>confinement</a:t>
            </a:r>
            <a:r>
              <a:rPr lang="it-IT" sz="1400" dirty="0">
                <a:latin typeface="Arial"/>
                <a:ea typeface="Calibri"/>
                <a:cs typeface="Arial"/>
              </a:rPr>
              <a:t>.</a:t>
            </a:r>
            <a:endParaRPr lang="it-IT" sz="1400" dirty="0">
              <a:latin typeface="Arial"/>
              <a:cs typeface="Arial"/>
            </a:endParaRPr>
          </a:p>
        </p:txBody>
      </p:sp>
      <p:pic>
        <p:nvPicPr>
          <p:cNvPr id="12" name="Immagine 11" descr="Immagine che contiene testo, linea, Diagramma, diagramma&#10;&#10;Il contenuto generato dall&amp;#39;IA potrebbe non essere corretto.">
            <a:extLst>
              <a:ext uri="{FF2B5EF4-FFF2-40B4-BE49-F238E27FC236}">
                <a16:creationId xmlns:a16="http://schemas.microsoft.com/office/drawing/2014/main" id="{7172064A-A0AC-0BC5-3F00-D31B5451F2D8}"/>
              </a:ext>
            </a:extLst>
          </p:cNvPr>
          <p:cNvPicPr>
            <a:picLocks noChangeAspect="1"/>
          </p:cNvPicPr>
          <p:nvPr/>
        </p:nvPicPr>
        <p:blipFill>
          <a:blip r:embed="rId5"/>
          <a:stretch>
            <a:fillRect/>
          </a:stretch>
        </p:blipFill>
        <p:spPr>
          <a:xfrm>
            <a:off x="6256254" y="549114"/>
            <a:ext cx="5819519" cy="3408408"/>
          </a:xfrm>
          <a:prstGeom prst="rect">
            <a:avLst/>
          </a:prstGeom>
        </p:spPr>
      </p:pic>
      <p:pic>
        <p:nvPicPr>
          <p:cNvPr id="13" name="Immagine 12" descr="Immagine che contiene testo, linea, Diagramma, diagramma&#10;&#10;Il contenuto generato dall&amp;#39;IA potrebbe non essere corretto.">
            <a:extLst>
              <a:ext uri="{FF2B5EF4-FFF2-40B4-BE49-F238E27FC236}">
                <a16:creationId xmlns:a16="http://schemas.microsoft.com/office/drawing/2014/main" id="{C7C3F7F7-5D26-15BA-F83E-401199C6713B}"/>
              </a:ext>
            </a:extLst>
          </p:cNvPr>
          <p:cNvPicPr>
            <a:picLocks noChangeAspect="1"/>
          </p:cNvPicPr>
          <p:nvPr/>
        </p:nvPicPr>
        <p:blipFill>
          <a:blip r:embed="rId6"/>
          <a:stretch>
            <a:fillRect/>
          </a:stretch>
        </p:blipFill>
        <p:spPr>
          <a:xfrm>
            <a:off x="0" y="544351"/>
            <a:ext cx="5869460" cy="3417932"/>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273908" y="202937"/>
            <a:ext cx="10582518" cy="874598"/>
          </a:xfrm>
          <a:prstGeom prst="rect">
            <a:avLst/>
          </a:prstGeom>
        </p:spPr>
        <p:txBody>
          <a:bodyPr vert="horz" wrap="square" lIns="0" tIns="12700" rIns="0" bIns="0" rtlCol="0" anchor="t">
            <a:spAutoFit/>
          </a:bodyPr>
          <a:lstStyle/>
          <a:p>
            <a:pPr marL="12700">
              <a:lnSpc>
                <a:spcPct val="100000"/>
              </a:lnSpc>
              <a:spcBef>
                <a:spcPts val="100"/>
              </a:spcBef>
            </a:pPr>
            <a:r>
              <a:rPr lang="en-US" dirty="0"/>
              <a:t>Learning outcome #5 – Bend waveguide radius vs. loss – deep</a:t>
            </a:r>
            <a:br>
              <a:rPr lang="en-US" dirty="0"/>
            </a:br>
            <a:r>
              <a:rPr lang="en-US" sz="1600" b="0" dirty="0"/>
              <a:t>Find  neff_TE0 for </a:t>
            </a:r>
            <a:r>
              <a:rPr lang="en-US" sz="1600" b="0" err="1"/>
              <a:t>wvl</a:t>
            </a:r>
            <a:r>
              <a:rPr lang="en-US" sz="1600" b="0" dirty="0"/>
              <a:t> 1.55 µm, width 1.2 µm for R=25,50,75,100, 125,150 µm</a:t>
            </a:r>
            <a:br>
              <a:rPr lang="en-US" dirty="0"/>
            </a:br>
            <a:endParaRPr lang="en-US" b="0">
              <a:latin typeface="+mj-lt"/>
              <a:ea typeface="Calibri"/>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551415"/>
            <a:ext cx="11199971" cy="2308324"/>
          </a:xfrm>
          <a:prstGeom prst="rect">
            <a:avLst/>
          </a:prstGeom>
          <a:solidFill>
            <a:schemeClr val="bg1"/>
          </a:solidFill>
          <a:ln w="28575">
            <a:noFill/>
          </a:ln>
        </p:spPr>
        <p:txBody>
          <a:bodyPr wrap="square" lIns="91440" tIns="45720" rIns="91440" bIns="45720" rtlCol="0" anchor="t">
            <a:spAutoFit/>
          </a:bodyPr>
          <a:lstStyle/>
          <a:p>
            <a:pPr algn="just"/>
            <a:r>
              <a:rPr lang="en-US" sz="1600" dirty="0">
                <a:latin typeface="Arial"/>
                <a:cs typeface="Arial"/>
              </a:rPr>
              <a:t>The loss is dominated by the mode mismatch for low radius values because strong physical bending shifts the mode significantly toward the edge of the waveguide causing stronger radiation in the cladding (reduced containment of the mode). The exact same shape is observed for the effective index which increases as the bending becomes stronger, because it is an index of how much the mode differs from the straight case. As the bending becomes gentler this effect is reduced exponentially  until propagation loss becomes more significant, because of this we have an optimal radius which causes the total loss to be minimized at around 75 . As the radius decreases the total path throughout which attenuation happen becomes longer and that is why propagation loss increases. So the bending makes the mode different from the one of a straight waveguide, causing mismatch, passed a certain value the mode is approximately equal to the straight case.</a:t>
            </a:r>
          </a:p>
        </p:txBody>
      </p:sp>
      <p:sp>
        <p:nvSpPr>
          <p:cNvPr id="8" name="CuadroTexto 7">
            <a:extLst>
              <a:ext uri="{FF2B5EF4-FFF2-40B4-BE49-F238E27FC236}">
                <a16:creationId xmlns:a16="http://schemas.microsoft.com/office/drawing/2014/main" id="{331EBD86-BA6C-68C9-2D38-FC8CFBA7ADC4}"/>
              </a:ext>
            </a:extLst>
          </p:cNvPr>
          <p:cNvSpPr txBox="1"/>
          <p:nvPr/>
        </p:nvSpPr>
        <p:spPr>
          <a:xfrm>
            <a:off x="795114" y="2351869"/>
            <a:ext cx="3445150" cy="1200329"/>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Total Loss (dB/90º) vs R &amp; neff_TE0 vs R</a:t>
            </a:r>
          </a:p>
        </p:txBody>
      </p:sp>
      <p:pic>
        <p:nvPicPr>
          <p:cNvPr id="5" name="Immagine 4" descr="Immagine che contiene testo, linea, Diagramma, diagramma&#10;&#10;Il contenuto generato dall&amp;#39;IA potrebbe non essere corretto.">
            <a:extLst>
              <a:ext uri="{FF2B5EF4-FFF2-40B4-BE49-F238E27FC236}">
                <a16:creationId xmlns:a16="http://schemas.microsoft.com/office/drawing/2014/main" id="{B726C026-A961-EF43-1FD8-F2373E6CC6F4}"/>
              </a:ext>
            </a:extLst>
          </p:cNvPr>
          <p:cNvPicPr>
            <a:picLocks noChangeAspect="1"/>
          </p:cNvPicPr>
          <p:nvPr/>
        </p:nvPicPr>
        <p:blipFill>
          <a:blip r:embed="rId5"/>
          <a:stretch>
            <a:fillRect/>
          </a:stretch>
        </p:blipFill>
        <p:spPr>
          <a:xfrm>
            <a:off x="6206052" y="802545"/>
            <a:ext cx="5721437" cy="3749505"/>
          </a:xfrm>
          <a:prstGeom prst="rect">
            <a:avLst/>
          </a:prstGeom>
        </p:spPr>
      </p:pic>
      <p:pic>
        <p:nvPicPr>
          <p:cNvPr id="9" name="Immagine 8" descr="Immagine che contiene testo, linea, schermata, Diagramma&#10;&#10;Il contenuto generato dall&amp;#39;IA potrebbe non essere corretto.">
            <a:extLst>
              <a:ext uri="{FF2B5EF4-FFF2-40B4-BE49-F238E27FC236}">
                <a16:creationId xmlns:a16="http://schemas.microsoft.com/office/drawing/2014/main" id="{35AB1D05-4C22-A551-948A-F2EE817C5EE1}"/>
              </a:ext>
            </a:extLst>
          </p:cNvPr>
          <p:cNvPicPr>
            <a:picLocks noChangeAspect="1"/>
          </p:cNvPicPr>
          <p:nvPr/>
        </p:nvPicPr>
        <p:blipFill>
          <a:blip r:embed="rId6"/>
          <a:stretch>
            <a:fillRect/>
          </a:stretch>
        </p:blipFill>
        <p:spPr>
          <a:xfrm>
            <a:off x="269018" y="801128"/>
            <a:ext cx="5702129" cy="3772930"/>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0F0127A-96D4-8A7E-C8B1-27E174E4994D}"/>
              </a:ext>
            </a:extLst>
          </p:cNvPr>
          <p:cNvSpPr>
            <a:spLocks noGrp="1"/>
          </p:cNvSpPr>
          <p:nvPr>
            <p:ph type="title"/>
          </p:nvPr>
        </p:nvSpPr>
        <p:spPr>
          <a:xfrm>
            <a:off x="469072" y="129448"/>
            <a:ext cx="10991850" cy="477054"/>
          </a:xfrm>
        </p:spPr>
        <p:txBody>
          <a:bodyPr wrap="square" lIns="0" tIns="0" rIns="0" bIns="0" anchor="t">
            <a:spAutoFit/>
          </a:bodyPr>
          <a:lstStyle/>
          <a:p>
            <a:r>
              <a:rPr lang="it-IT" dirty="0">
                <a:ea typeface="Calibri"/>
              </a:rPr>
              <a:t>EXTRA 1: LO2 with Silicon (Si) core and 220 nm </a:t>
            </a:r>
            <a:r>
              <a:rPr lang="it-IT" dirty="0" err="1">
                <a:ea typeface="Calibri"/>
              </a:rPr>
              <a:t>height</a:t>
            </a:r>
            <a:r>
              <a:rPr lang="it-IT" dirty="0">
                <a:ea typeface="Calibri"/>
              </a:rPr>
              <a:t> and 500 nm </a:t>
            </a:r>
            <a:r>
              <a:rPr lang="it-IT" dirty="0" err="1">
                <a:ea typeface="Calibri"/>
              </a:rPr>
              <a:t>width</a:t>
            </a:r>
            <a:endParaRPr lang="it-IT" sz="1100" dirty="0" err="1">
              <a:solidFill>
                <a:srgbClr val="FFC58F"/>
              </a:solidFill>
              <a:highlight>
                <a:srgbClr val="002451"/>
              </a:highlight>
              <a:latin typeface="Consolas"/>
              <a:ea typeface="Calibri"/>
            </a:endParaRPr>
          </a:p>
          <a:p>
            <a:endParaRPr lang="it-IT" sz="1100" dirty="0">
              <a:solidFill>
                <a:srgbClr val="FFC58F"/>
              </a:solidFill>
              <a:highlight>
                <a:srgbClr val="002451"/>
              </a:highlight>
              <a:latin typeface="Consolas"/>
              <a:ea typeface="Calibri"/>
            </a:endParaRPr>
          </a:p>
        </p:txBody>
      </p:sp>
      <p:sp>
        <p:nvSpPr>
          <p:cNvPr id="3" name="Segnaposto testo 2">
            <a:extLst>
              <a:ext uri="{FF2B5EF4-FFF2-40B4-BE49-F238E27FC236}">
                <a16:creationId xmlns:a16="http://schemas.microsoft.com/office/drawing/2014/main" id="{DC49D8C0-CC92-D9C1-80B4-DB4ECAAF056B}"/>
              </a:ext>
            </a:extLst>
          </p:cNvPr>
          <p:cNvSpPr>
            <a:spLocks noGrp="1"/>
          </p:cNvSpPr>
          <p:nvPr>
            <p:ph type="body" idx="1"/>
          </p:nvPr>
        </p:nvSpPr>
        <p:spPr>
          <a:xfrm>
            <a:off x="5702584" y="736063"/>
            <a:ext cx="6078598" cy="5509200"/>
          </a:xfrm>
        </p:spPr>
        <p:txBody>
          <a:bodyPr wrap="square" lIns="0" tIns="0" rIns="0" bIns="0" anchor="t">
            <a:spAutoFit/>
          </a:bodyPr>
          <a:lstStyle/>
          <a:p>
            <a:r>
              <a:rPr lang="it-IT" sz="2000" dirty="0">
                <a:solidFill>
                  <a:srgbClr val="000000"/>
                </a:solidFill>
                <a:latin typeface="Calibri"/>
                <a:ea typeface="Calibri"/>
                <a:cs typeface="Calibri"/>
              </a:rPr>
              <a:t>On the upper </a:t>
            </a:r>
            <a:r>
              <a:rPr lang="it-IT" sz="2000" dirty="0" err="1">
                <a:solidFill>
                  <a:srgbClr val="000000"/>
                </a:solidFill>
                <a:latin typeface="Calibri"/>
                <a:ea typeface="Calibri"/>
                <a:cs typeface="Calibri"/>
              </a:rPr>
              <a:t>graph</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we</a:t>
            </a:r>
            <a:r>
              <a:rPr lang="it-IT" sz="2000" dirty="0">
                <a:solidFill>
                  <a:srgbClr val="000000"/>
                </a:solidFill>
                <a:latin typeface="Calibri"/>
                <a:ea typeface="Calibri"/>
                <a:cs typeface="Calibri"/>
              </a:rPr>
              <a:t> se the </a:t>
            </a:r>
            <a:r>
              <a:rPr lang="it-IT" sz="2000" dirty="0" err="1">
                <a:solidFill>
                  <a:srgbClr val="000000"/>
                </a:solidFill>
                <a:latin typeface="Calibri"/>
                <a:ea typeface="Calibri"/>
                <a:cs typeface="Calibri"/>
              </a:rPr>
              <a:t>wavelength</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dependency</a:t>
            </a:r>
            <a:r>
              <a:rPr lang="it-IT" sz="2000" dirty="0">
                <a:solidFill>
                  <a:srgbClr val="000000"/>
                </a:solidFill>
                <a:latin typeface="Calibri"/>
                <a:ea typeface="Calibri"/>
                <a:cs typeface="Calibri"/>
              </a:rPr>
              <a:t> of the first 4 </a:t>
            </a:r>
            <a:r>
              <a:rPr lang="it-IT" sz="2000" dirty="0" err="1">
                <a:solidFill>
                  <a:srgbClr val="000000"/>
                </a:solidFill>
                <a:latin typeface="Calibri"/>
                <a:ea typeface="Calibri"/>
                <a:cs typeface="Calibri"/>
              </a:rPr>
              <a:t>modes</a:t>
            </a:r>
            <a:r>
              <a:rPr lang="it-IT" sz="2000" dirty="0">
                <a:solidFill>
                  <a:srgbClr val="000000"/>
                </a:solidFill>
                <a:latin typeface="Calibri"/>
                <a:ea typeface="Calibri"/>
                <a:cs typeface="Calibri"/>
              </a:rPr>
              <a:t> for the silicon </a:t>
            </a:r>
            <a:r>
              <a:rPr lang="it-IT" sz="2000" dirty="0" err="1">
                <a:solidFill>
                  <a:srgbClr val="000000"/>
                </a:solidFill>
                <a:latin typeface="Calibri"/>
                <a:ea typeface="Calibri"/>
                <a:cs typeface="Calibri"/>
              </a:rPr>
              <a:t>waveguide</a:t>
            </a:r>
            <a:r>
              <a:rPr lang="it-IT" sz="2000" dirty="0">
                <a:solidFill>
                  <a:srgbClr val="000000"/>
                </a:solidFill>
                <a:latin typeface="Calibri"/>
                <a:ea typeface="Calibri"/>
                <a:cs typeface="Calibri"/>
              </a:rPr>
              <a:t>, on the </a:t>
            </a:r>
            <a:r>
              <a:rPr lang="it-IT" sz="2000" dirty="0" err="1">
                <a:solidFill>
                  <a:srgbClr val="000000"/>
                </a:solidFill>
                <a:latin typeface="Calibri"/>
                <a:ea typeface="Calibri"/>
                <a:cs typeface="Calibri"/>
              </a:rPr>
              <a:t>lower</a:t>
            </a:r>
            <a:r>
              <a:rPr lang="it-IT" sz="2000" dirty="0">
                <a:solidFill>
                  <a:srgbClr val="000000"/>
                </a:solidFill>
                <a:latin typeface="Calibri"/>
                <a:ea typeface="Calibri"/>
                <a:cs typeface="Calibri"/>
              </a:rPr>
              <a:t> side </a:t>
            </a:r>
            <a:r>
              <a:rPr lang="it-IT" sz="2000" dirty="0" err="1">
                <a:solidFill>
                  <a:srgbClr val="000000"/>
                </a:solidFill>
                <a:latin typeface="Calibri"/>
                <a:ea typeface="Calibri"/>
                <a:cs typeface="Calibri"/>
              </a:rPr>
              <a:t>we</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present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again</a:t>
            </a:r>
            <a:r>
              <a:rPr lang="it-IT" sz="2000" dirty="0">
                <a:solidFill>
                  <a:srgbClr val="000000"/>
                </a:solidFill>
                <a:latin typeface="Calibri"/>
                <a:ea typeface="Calibri"/>
                <a:cs typeface="Calibri"/>
              </a:rPr>
              <a:t> the </a:t>
            </a:r>
            <a:r>
              <a:rPr lang="it-IT" sz="2000" dirty="0" err="1">
                <a:solidFill>
                  <a:srgbClr val="000000"/>
                </a:solidFill>
                <a:latin typeface="Calibri"/>
                <a:ea typeface="Calibri"/>
                <a:cs typeface="Calibri"/>
              </a:rPr>
              <a:t>same</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graph</a:t>
            </a:r>
            <a:r>
              <a:rPr lang="it-IT" sz="2000" dirty="0">
                <a:solidFill>
                  <a:srgbClr val="000000"/>
                </a:solidFill>
                <a:latin typeface="Calibri"/>
                <a:ea typeface="Calibri"/>
                <a:cs typeface="Calibri"/>
              </a:rPr>
              <a:t> for the deep </a:t>
            </a:r>
            <a:r>
              <a:rPr lang="it-IT" sz="2000" dirty="0" err="1">
                <a:solidFill>
                  <a:srgbClr val="000000"/>
                </a:solidFill>
                <a:latin typeface="Calibri"/>
                <a:ea typeface="Calibri"/>
                <a:cs typeface="Calibri"/>
              </a:rPr>
              <a:t>waveguide</a:t>
            </a:r>
            <a:r>
              <a:rPr lang="it-IT" sz="2000" dirty="0">
                <a:solidFill>
                  <a:srgbClr val="000000"/>
                </a:solidFill>
                <a:latin typeface="Calibri"/>
                <a:ea typeface="Calibri"/>
                <a:cs typeface="Calibri"/>
              </a:rPr>
              <a:t> of the </a:t>
            </a:r>
            <a:r>
              <a:rPr lang="it-IT" sz="2000" dirty="0" err="1">
                <a:solidFill>
                  <a:srgbClr val="000000"/>
                </a:solidFill>
                <a:latin typeface="Calibri"/>
                <a:ea typeface="Calibri"/>
                <a:cs typeface="Calibri"/>
              </a:rPr>
              <a:t>previous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examples</a:t>
            </a:r>
            <a:r>
              <a:rPr lang="it-IT" sz="2000" dirty="0">
                <a:solidFill>
                  <a:srgbClr val="000000"/>
                </a:solidFill>
                <a:latin typeface="Calibri"/>
                <a:ea typeface="Calibri"/>
                <a:cs typeface="Calibri"/>
              </a:rPr>
              <a:t>. </a:t>
            </a:r>
          </a:p>
          <a:p>
            <a:endParaRPr lang="it-IT" sz="2000" dirty="0">
              <a:solidFill>
                <a:srgbClr val="000000"/>
              </a:solidFill>
              <a:latin typeface="Calibri"/>
              <a:ea typeface="Calibri"/>
              <a:cs typeface="Calibri"/>
            </a:endParaRPr>
          </a:p>
          <a:p>
            <a:r>
              <a:rPr lang="it-IT" sz="2000" dirty="0">
                <a:solidFill>
                  <a:srgbClr val="000000"/>
                </a:solidFill>
                <a:latin typeface="Calibri"/>
                <a:ea typeface="Calibri"/>
                <a:cs typeface="Calibri"/>
              </a:rPr>
              <a:t>The </a:t>
            </a:r>
            <a:r>
              <a:rPr lang="it-IT" sz="2000" dirty="0" err="1">
                <a:solidFill>
                  <a:srgbClr val="000000"/>
                </a:solidFill>
                <a:latin typeface="Calibri"/>
                <a:ea typeface="Calibri"/>
                <a:cs typeface="Calibri"/>
              </a:rPr>
              <a:t>higher</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refractive</a:t>
            </a:r>
            <a:r>
              <a:rPr lang="it-IT" sz="2000" dirty="0">
                <a:solidFill>
                  <a:srgbClr val="000000"/>
                </a:solidFill>
                <a:latin typeface="Calibri"/>
                <a:ea typeface="Calibri"/>
                <a:cs typeface="Calibri"/>
              </a:rPr>
              <a:t> index of Silicon </a:t>
            </a:r>
            <a:r>
              <a:rPr lang="it-IT" sz="2000" dirty="0" err="1">
                <a:solidFill>
                  <a:srgbClr val="000000"/>
                </a:solidFill>
                <a:latin typeface="Calibri"/>
                <a:ea typeface="Calibri"/>
                <a:cs typeface="Calibri"/>
              </a:rPr>
              <a:t>has</a:t>
            </a:r>
            <a:r>
              <a:rPr lang="it-IT" sz="2000" dirty="0">
                <a:solidFill>
                  <a:srgbClr val="000000"/>
                </a:solidFill>
                <a:latin typeface="Calibri"/>
                <a:ea typeface="Calibri"/>
                <a:cs typeface="Calibri"/>
              </a:rPr>
              <a:t> an </a:t>
            </a:r>
            <a:r>
              <a:rPr lang="it-IT" sz="2000" dirty="0" err="1">
                <a:solidFill>
                  <a:srgbClr val="000000"/>
                </a:solidFill>
                <a:latin typeface="Calibri"/>
                <a:ea typeface="Calibri"/>
                <a:cs typeface="Calibri"/>
              </a:rPr>
              <a:t>immediately</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evident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effect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rising</a:t>
            </a:r>
            <a:r>
              <a:rPr lang="it-IT" sz="2000" dirty="0">
                <a:solidFill>
                  <a:srgbClr val="000000"/>
                </a:solidFill>
                <a:latin typeface="Calibri"/>
                <a:ea typeface="Calibri"/>
                <a:cs typeface="Calibri"/>
              </a:rPr>
              <a:t> the </a:t>
            </a:r>
            <a:r>
              <a:rPr lang="it-IT" sz="2000" dirty="0" err="1">
                <a:solidFill>
                  <a:srgbClr val="000000"/>
                </a:solidFill>
                <a:latin typeface="Calibri"/>
                <a:ea typeface="Calibri"/>
                <a:cs typeface="Calibri"/>
              </a:rPr>
              <a:t>effective</a:t>
            </a:r>
            <a:r>
              <a:rPr lang="it-IT" sz="2000" dirty="0">
                <a:solidFill>
                  <a:srgbClr val="000000"/>
                </a:solidFill>
                <a:latin typeface="Calibri"/>
                <a:ea typeface="Calibri"/>
                <a:cs typeface="Calibri"/>
              </a:rPr>
              <a:t> indexes of </a:t>
            </a:r>
            <a:r>
              <a:rPr lang="it-IT" sz="2000" dirty="0" err="1">
                <a:solidFill>
                  <a:srgbClr val="000000"/>
                </a:solidFill>
                <a:latin typeface="Calibri"/>
                <a:ea typeface="Calibri"/>
                <a:cs typeface="Calibri"/>
              </a:rPr>
              <a:t>all</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modes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substantially</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such</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that</a:t>
            </a:r>
            <a:r>
              <a:rPr lang="it-IT" sz="2000" dirty="0">
                <a:solidFill>
                  <a:srgbClr val="000000"/>
                </a:solidFill>
                <a:latin typeface="Calibri"/>
                <a:ea typeface="Calibri"/>
                <a:cs typeface="Calibri"/>
              </a:rPr>
              <a:t> TE1 </a:t>
            </a:r>
            <a:r>
              <a:rPr lang="it-IT" sz="2000" dirty="0" err="1">
                <a:solidFill>
                  <a:srgbClr val="000000"/>
                </a:solidFill>
                <a:latin typeface="Calibri"/>
                <a:ea typeface="Calibri"/>
                <a:cs typeface="Calibri"/>
              </a:rPr>
              <a:t>results</a:t>
            </a:r>
            <a:r>
              <a:rPr lang="it-IT" sz="2000" dirty="0">
                <a:solidFill>
                  <a:srgbClr val="000000"/>
                </a:solidFill>
                <a:latin typeface="Calibri"/>
                <a:ea typeface="Calibri"/>
                <a:cs typeface="Calibri"/>
              </a:rPr>
              <a:t> over the </a:t>
            </a:r>
            <a:r>
              <a:rPr lang="it-IT" sz="2000" dirty="0" err="1">
                <a:solidFill>
                  <a:srgbClr val="000000"/>
                </a:solidFill>
                <a:latin typeface="Calibri"/>
                <a:ea typeface="Calibri"/>
                <a:cs typeface="Calibri"/>
              </a:rPr>
              <a:t>containment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threshold</a:t>
            </a:r>
            <a:r>
              <a:rPr lang="it-IT" sz="2000" dirty="0">
                <a:solidFill>
                  <a:srgbClr val="000000"/>
                </a:solidFill>
                <a:latin typeface="Calibri"/>
                <a:ea typeface="Calibri"/>
                <a:cs typeface="Calibri"/>
              </a:rPr>
              <a:t> and </a:t>
            </a:r>
            <a:r>
              <a:rPr lang="it-IT" sz="2000" dirty="0" err="1">
                <a:solidFill>
                  <a:srgbClr val="000000"/>
                </a:solidFill>
                <a:latin typeface="Calibri"/>
                <a:ea typeface="Calibri"/>
                <a:cs typeface="Calibri"/>
              </a:rPr>
              <a:t>is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therefore</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guided</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where</a:t>
            </a:r>
            <a:r>
              <a:rPr lang="it-IT" sz="2000" dirty="0">
                <a:solidFill>
                  <a:srgbClr val="000000"/>
                </a:solidFill>
                <a:latin typeface="Calibri"/>
                <a:ea typeface="Calibri"/>
                <a:cs typeface="Calibri"/>
              </a:rPr>
              <a:t> the one of the Silicon Nitrate case </a:t>
            </a:r>
            <a:r>
              <a:rPr lang="it-IT" sz="2000" dirty="0" err="1">
                <a:solidFill>
                  <a:srgbClr val="000000"/>
                </a:solidFill>
                <a:latin typeface="Calibri"/>
                <a:ea typeface="Calibri"/>
                <a:cs typeface="Calibri"/>
              </a:rPr>
              <a:t>is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below</a:t>
            </a:r>
            <a:r>
              <a:rPr lang="it-IT" sz="2000" dirty="0">
                <a:solidFill>
                  <a:srgbClr val="000000"/>
                </a:solidFill>
                <a:latin typeface="Calibri"/>
                <a:ea typeface="Calibri"/>
                <a:cs typeface="Calibri"/>
              </a:rPr>
              <a:t> the </a:t>
            </a:r>
            <a:r>
              <a:rPr lang="it-IT" sz="2000" dirty="0" err="1">
                <a:solidFill>
                  <a:srgbClr val="000000"/>
                </a:solidFill>
                <a:latin typeface="Calibri"/>
                <a:ea typeface="Calibri"/>
                <a:cs typeface="Calibri"/>
              </a:rPr>
              <a:t>threshold</a:t>
            </a:r>
            <a:r>
              <a:rPr lang="it-IT" sz="2000" dirty="0">
                <a:solidFill>
                  <a:srgbClr val="000000"/>
                </a:solidFill>
                <a:latin typeface="Calibri"/>
                <a:ea typeface="Calibri"/>
                <a:cs typeface="Calibri"/>
              </a:rPr>
              <a:t>.</a:t>
            </a:r>
          </a:p>
          <a:p>
            <a:endParaRPr lang="it-IT" sz="2000" dirty="0">
              <a:solidFill>
                <a:srgbClr val="000000"/>
              </a:solidFill>
              <a:latin typeface="Calibri"/>
              <a:ea typeface="Calibri"/>
              <a:cs typeface="Calibri"/>
            </a:endParaRPr>
          </a:p>
          <a:p>
            <a:r>
              <a:rPr lang="it-IT" sz="2000" err="1">
                <a:solidFill>
                  <a:srgbClr val="000000"/>
                </a:solidFill>
                <a:latin typeface="Calibri"/>
                <a:ea typeface="Calibri"/>
                <a:cs typeface="Calibri"/>
              </a:rPr>
              <a:t>It's</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important</a:t>
            </a:r>
            <a:r>
              <a:rPr lang="it-IT" sz="2000" dirty="0">
                <a:solidFill>
                  <a:srgbClr val="000000"/>
                </a:solidFill>
                <a:latin typeface="Calibri"/>
                <a:ea typeface="Calibri"/>
                <a:cs typeface="Calibri"/>
              </a:rPr>
              <a:t> to </a:t>
            </a:r>
            <a:r>
              <a:rPr lang="it-IT" sz="2000" err="1">
                <a:solidFill>
                  <a:srgbClr val="000000"/>
                </a:solidFill>
                <a:latin typeface="Calibri"/>
                <a:ea typeface="Calibri"/>
                <a:cs typeface="Calibri"/>
              </a:rPr>
              <a:t>mention</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that</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this</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behaviour</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is</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observed</a:t>
            </a:r>
            <a:r>
              <a:rPr lang="it-IT" sz="2000" dirty="0">
                <a:solidFill>
                  <a:srgbClr val="000000"/>
                </a:solidFill>
                <a:latin typeface="Calibri"/>
                <a:ea typeface="Calibri"/>
                <a:cs typeface="Calibri"/>
              </a:rPr>
              <a:t> for a Silicon </a:t>
            </a:r>
            <a:r>
              <a:rPr lang="it-IT" sz="2000" err="1">
                <a:solidFill>
                  <a:srgbClr val="000000"/>
                </a:solidFill>
                <a:latin typeface="Calibri"/>
                <a:ea typeface="Calibri"/>
                <a:cs typeface="Calibri"/>
              </a:rPr>
              <a:t>waveguide</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which</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is</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much</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smaller</a:t>
            </a:r>
            <a:r>
              <a:rPr lang="it-IT" sz="2000" dirty="0">
                <a:solidFill>
                  <a:srgbClr val="000000"/>
                </a:solidFill>
                <a:latin typeface="Calibri"/>
                <a:ea typeface="Calibri"/>
                <a:cs typeface="Calibri"/>
              </a:rPr>
              <a:t> in size </a:t>
            </a:r>
            <a:r>
              <a:rPr lang="it-IT" sz="2000" err="1">
                <a:solidFill>
                  <a:srgbClr val="000000"/>
                </a:solidFill>
                <a:latin typeface="Calibri"/>
                <a:ea typeface="Calibri"/>
                <a:cs typeface="Calibri"/>
              </a:rPr>
              <a:t>compared</a:t>
            </a:r>
            <a:r>
              <a:rPr lang="it-IT" sz="2000" dirty="0">
                <a:solidFill>
                  <a:srgbClr val="000000"/>
                </a:solidFill>
                <a:latin typeface="Calibri"/>
                <a:ea typeface="Calibri"/>
                <a:cs typeface="Calibri"/>
              </a:rPr>
              <a:t> to the Silicon Nitrate one. For </a:t>
            </a:r>
            <a:r>
              <a:rPr lang="it-IT" sz="2000" err="1">
                <a:solidFill>
                  <a:srgbClr val="000000"/>
                </a:solidFill>
                <a:latin typeface="Calibri"/>
                <a:ea typeface="Calibri"/>
                <a:cs typeface="Calibri"/>
              </a:rPr>
              <a:t>this</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reason</a:t>
            </a:r>
            <a:r>
              <a:rPr lang="it-IT" sz="2000" dirty="0">
                <a:solidFill>
                  <a:srgbClr val="000000"/>
                </a:solidFill>
                <a:latin typeface="Calibri"/>
                <a:ea typeface="Calibri"/>
                <a:cs typeface="Calibri"/>
              </a:rPr>
              <a:t> the new </a:t>
            </a:r>
            <a:r>
              <a:rPr lang="it-IT" sz="2000" err="1">
                <a:solidFill>
                  <a:srgbClr val="000000"/>
                </a:solidFill>
                <a:latin typeface="Calibri"/>
                <a:ea typeface="Calibri"/>
                <a:cs typeface="Calibri"/>
              </a:rPr>
              <a:t>waveguide</a:t>
            </a:r>
            <a:r>
              <a:rPr lang="it-IT" sz="2000" dirty="0">
                <a:solidFill>
                  <a:srgbClr val="000000"/>
                </a:solidFill>
                <a:latin typeface="Calibri"/>
                <a:ea typeface="Calibri"/>
                <a:cs typeface="Calibri"/>
              </a:rPr>
              <a:t> shows </a:t>
            </a:r>
            <a:r>
              <a:rPr lang="it-IT" sz="2000" err="1">
                <a:solidFill>
                  <a:srgbClr val="000000"/>
                </a:solidFill>
                <a:latin typeface="Calibri"/>
                <a:ea typeface="Calibri"/>
                <a:cs typeface="Calibri"/>
              </a:rPr>
              <a:t>great</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preliminary</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results</a:t>
            </a:r>
            <a:r>
              <a:rPr lang="it-IT" sz="2000" dirty="0">
                <a:solidFill>
                  <a:srgbClr val="000000"/>
                </a:solidFill>
                <a:latin typeface="Calibri"/>
                <a:ea typeface="Calibri"/>
                <a:cs typeface="Calibri"/>
              </a:rPr>
              <a:t> for use </a:t>
            </a:r>
            <a:r>
              <a:rPr lang="it-IT" sz="2000" err="1">
                <a:solidFill>
                  <a:srgbClr val="000000"/>
                </a:solidFill>
                <a:latin typeface="Calibri"/>
                <a:ea typeface="Calibri"/>
                <a:cs typeface="Calibri"/>
              </a:rPr>
              <a:t>cases</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where</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we</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need</a:t>
            </a:r>
            <a:r>
              <a:rPr lang="it-IT" sz="2000" dirty="0">
                <a:solidFill>
                  <a:srgbClr val="000000"/>
                </a:solidFill>
                <a:latin typeface="Calibri"/>
                <a:ea typeface="Calibri"/>
                <a:cs typeface="Calibri"/>
              </a:rPr>
              <a:t> a compact </a:t>
            </a:r>
            <a:r>
              <a:rPr lang="it-IT" sz="2000" err="1">
                <a:solidFill>
                  <a:srgbClr val="000000"/>
                </a:solidFill>
                <a:latin typeface="Calibri"/>
                <a:ea typeface="Calibri"/>
                <a:cs typeface="Calibri"/>
              </a:rPr>
              <a:t>that</a:t>
            </a:r>
            <a:r>
              <a:rPr lang="it-IT" sz="2000" dirty="0">
                <a:solidFill>
                  <a:srgbClr val="000000"/>
                </a:solidFill>
                <a:latin typeface="Calibri"/>
                <a:ea typeface="Calibri"/>
                <a:cs typeface="Calibri"/>
              </a:rPr>
              <a:t> must </a:t>
            </a:r>
            <a:r>
              <a:rPr lang="it-IT" sz="2000" err="1">
                <a:solidFill>
                  <a:srgbClr val="000000"/>
                </a:solidFill>
                <a:latin typeface="Calibri"/>
                <a:ea typeface="Calibri"/>
                <a:cs typeface="Calibri"/>
              </a:rPr>
              <a:t>sustain</a:t>
            </a:r>
            <a:r>
              <a:rPr lang="it-IT" sz="2000" dirty="0">
                <a:solidFill>
                  <a:srgbClr val="000000"/>
                </a:solidFill>
                <a:latin typeface="Calibri"/>
                <a:ea typeface="Calibri"/>
                <a:cs typeface="Calibri"/>
              </a:rPr>
              <a:t> multiple </a:t>
            </a:r>
            <a:r>
              <a:rPr lang="it-IT" sz="2000" err="1">
                <a:solidFill>
                  <a:srgbClr val="000000"/>
                </a:solidFill>
                <a:latin typeface="Calibri"/>
                <a:ea typeface="Calibri"/>
                <a:cs typeface="Calibri"/>
              </a:rPr>
              <a:t>modes</a:t>
            </a:r>
            <a:r>
              <a:rPr lang="it-IT" sz="2000" dirty="0">
                <a:solidFill>
                  <a:srgbClr val="000000"/>
                </a:solidFill>
                <a:latin typeface="Calibri"/>
                <a:ea typeface="Calibri"/>
                <a:cs typeface="Calibri"/>
              </a:rPr>
              <a:t> in </a:t>
            </a:r>
            <a:r>
              <a:rPr lang="it-IT" sz="2000" err="1">
                <a:solidFill>
                  <a:srgbClr val="000000"/>
                </a:solidFill>
                <a:latin typeface="Calibri"/>
                <a:ea typeface="Calibri"/>
                <a:cs typeface="Calibri"/>
              </a:rPr>
              <a:t>its</a:t>
            </a:r>
            <a:r>
              <a:rPr lang="it-IT" sz="2000" dirty="0">
                <a:solidFill>
                  <a:srgbClr val="000000"/>
                </a:solidFill>
                <a:latin typeface="Calibri"/>
                <a:ea typeface="Calibri"/>
                <a:cs typeface="Calibri"/>
              </a:rPr>
              <a:t> </a:t>
            </a:r>
            <a:r>
              <a:rPr lang="it-IT" sz="2000" err="1">
                <a:solidFill>
                  <a:srgbClr val="000000"/>
                </a:solidFill>
                <a:latin typeface="Calibri"/>
                <a:ea typeface="Calibri"/>
                <a:cs typeface="Calibri"/>
              </a:rPr>
              <a:t>smaller</a:t>
            </a:r>
            <a:r>
              <a:rPr lang="it-IT" sz="2000" dirty="0">
                <a:solidFill>
                  <a:srgbClr val="000000"/>
                </a:solidFill>
                <a:latin typeface="Calibri"/>
                <a:ea typeface="Calibri"/>
                <a:cs typeface="Calibri"/>
              </a:rPr>
              <a:t> area</a:t>
            </a:r>
          </a:p>
          <a:p>
            <a:endParaRPr lang="it-IT" dirty="0">
              <a:solidFill>
                <a:srgbClr val="000000"/>
              </a:solidFill>
              <a:latin typeface="Calibri"/>
              <a:ea typeface="Calibri"/>
              <a:cs typeface="Calibri"/>
            </a:endParaRPr>
          </a:p>
        </p:txBody>
      </p:sp>
      <p:sp>
        <p:nvSpPr>
          <p:cNvPr id="4" name="Segnaposto piè di pagina 3">
            <a:extLst>
              <a:ext uri="{FF2B5EF4-FFF2-40B4-BE49-F238E27FC236}">
                <a16:creationId xmlns:a16="http://schemas.microsoft.com/office/drawing/2014/main" id="{123CFC63-5EAD-F1AD-12A0-1E9B035E2123}"/>
              </a:ext>
            </a:extLst>
          </p:cNvPr>
          <p:cNvSpPr>
            <a:spLocks noGrp="1"/>
          </p:cNvSpPr>
          <p:nvPr>
            <p:ph type="ftr" sz="quarter" idx="5"/>
          </p:nvPr>
        </p:nvSpPr>
        <p:spPr/>
        <p:txBody>
          <a:bodyPr/>
          <a:lstStyle/>
          <a:p>
            <a:pPr marL="12700">
              <a:spcBef>
                <a:spcPts val="15"/>
              </a:spcBef>
            </a:pPr>
            <a:r>
              <a:rPr lang="es-ES" spc="-5"/>
              <a:t>LAB 1.0 WAVEGUIDES</a:t>
            </a:r>
          </a:p>
        </p:txBody>
      </p:sp>
      <p:sp>
        <p:nvSpPr>
          <p:cNvPr id="5" name="Segnaposto numero diapositiva 4">
            <a:extLst>
              <a:ext uri="{FF2B5EF4-FFF2-40B4-BE49-F238E27FC236}">
                <a16:creationId xmlns:a16="http://schemas.microsoft.com/office/drawing/2014/main" id="{A4EC8871-7C42-7D09-546B-F0DBACE57FD2}"/>
              </a:ext>
            </a:extLst>
          </p:cNvPr>
          <p:cNvSpPr>
            <a:spLocks noGrp="1"/>
          </p:cNvSpPr>
          <p:nvPr>
            <p:ph type="sldNum" sz="quarter" idx="7"/>
          </p:nvPr>
        </p:nvSpPr>
        <p:spPr/>
        <p:txBody>
          <a:bodyPr/>
          <a:lstStyle/>
          <a:p>
            <a:fld id="{B6F15528-21DE-4FAA-801E-634DDDAF4B2B}" type="slidenum">
              <a:rPr lang="it-IT"/>
              <a:t>9</a:t>
            </a:fld>
            <a:endParaRPr lang="it-IT"/>
          </a:p>
        </p:txBody>
      </p:sp>
      <p:pic>
        <p:nvPicPr>
          <p:cNvPr id="8" name="Immagine 7" descr="Immagine che contiene testo, linea, Diagramma, numero&#10;&#10;Il contenuto generato dall&amp;#39;IA potrebbe non essere corretto.">
            <a:extLst>
              <a:ext uri="{FF2B5EF4-FFF2-40B4-BE49-F238E27FC236}">
                <a16:creationId xmlns:a16="http://schemas.microsoft.com/office/drawing/2014/main" id="{77EFB47E-8F65-1090-C9E4-CC97D8A70DC9}"/>
              </a:ext>
            </a:extLst>
          </p:cNvPr>
          <p:cNvPicPr>
            <a:picLocks noChangeAspect="1"/>
          </p:cNvPicPr>
          <p:nvPr/>
        </p:nvPicPr>
        <p:blipFill>
          <a:blip r:embed="rId2"/>
          <a:stretch>
            <a:fillRect/>
          </a:stretch>
        </p:blipFill>
        <p:spPr>
          <a:xfrm>
            <a:off x="3948" y="3860800"/>
            <a:ext cx="5240500" cy="2996655"/>
          </a:xfrm>
          <a:prstGeom prst="rect">
            <a:avLst/>
          </a:prstGeom>
        </p:spPr>
      </p:pic>
      <p:pic>
        <p:nvPicPr>
          <p:cNvPr id="9" name="Immagine 8" descr="Immagine che contiene testo, linea, Diagramma, diagramma&#10;&#10;Il contenuto generato dall&amp;#39;IA potrebbe non essere corretto.">
            <a:extLst>
              <a:ext uri="{FF2B5EF4-FFF2-40B4-BE49-F238E27FC236}">
                <a16:creationId xmlns:a16="http://schemas.microsoft.com/office/drawing/2014/main" id="{18953CEB-E79D-EFEB-F0F6-D8B16BE6F3AA}"/>
              </a:ext>
            </a:extLst>
          </p:cNvPr>
          <p:cNvPicPr>
            <a:picLocks noChangeAspect="1"/>
          </p:cNvPicPr>
          <p:nvPr/>
        </p:nvPicPr>
        <p:blipFill>
          <a:blip r:embed="rId3"/>
          <a:stretch>
            <a:fillRect/>
          </a:stretch>
        </p:blipFill>
        <p:spPr>
          <a:xfrm>
            <a:off x="3796" y="605941"/>
            <a:ext cx="5238061" cy="3006726"/>
          </a:xfrm>
          <a:prstGeom prst="rect">
            <a:avLst/>
          </a:prstGeom>
        </p:spPr>
      </p:pic>
    </p:spTree>
    <p:extLst>
      <p:ext uri="{BB962C8B-B14F-4D97-AF65-F5344CB8AC3E}">
        <p14:creationId xmlns:p14="http://schemas.microsoft.com/office/powerpoint/2010/main" val="3575967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D7FCED9-E767-9DF1-1211-5FF0940DD5BE}"/>
              </a:ext>
            </a:extLst>
          </p:cNvPr>
          <p:cNvSpPr>
            <a:spLocks noGrp="1"/>
          </p:cNvSpPr>
          <p:nvPr>
            <p:ph type="title"/>
          </p:nvPr>
        </p:nvSpPr>
        <p:spPr/>
        <p:txBody>
          <a:bodyPr wrap="square" lIns="0" tIns="0" rIns="0" bIns="0" anchor="t">
            <a:spAutoFit/>
          </a:bodyPr>
          <a:lstStyle/>
          <a:p>
            <a:r>
              <a:rPr lang="it-IT" dirty="0">
                <a:ea typeface="Calibri"/>
              </a:rPr>
              <a:t>EXTRA 2: </a:t>
            </a:r>
            <a:r>
              <a:rPr lang="it-IT" dirty="0" err="1">
                <a:ea typeface="Calibri"/>
              </a:rPr>
              <a:t>width</a:t>
            </a:r>
            <a:r>
              <a:rPr lang="it-IT" dirty="0">
                <a:ea typeface="Calibri"/>
              </a:rPr>
              <a:t> dependance for Silicon core </a:t>
            </a:r>
            <a:r>
              <a:rPr lang="it-IT" dirty="0" err="1">
                <a:ea typeface="Calibri"/>
              </a:rPr>
              <a:t>wavelegth</a:t>
            </a:r>
            <a:endParaRPr lang="it-IT" dirty="0" err="1"/>
          </a:p>
        </p:txBody>
      </p:sp>
      <p:sp>
        <p:nvSpPr>
          <p:cNvPr id="3" name="Segnaposto testo 2">
            <a:extLst>
              <a:ext uri="{FF2B5EF4-FFF2-40B4-BE49-F238E27FC236}">
                <a16:creationId xmlns:a16="http://schemas.microsoft.com/office/drawing/2014/main" id="{19E8DB1B-5967-7979-DB7B-8F935CCAE084}"/>
              </a:ext>
            </a:extLst>
          </p:cNvPr>
          <p:cNvSpPr>
            <a:spLocks noGrp="1"/>
          </p:cNvSpPr>
          <p:nvPr>
            <p:ph type="body" idx="1"/>
          </p:nvPr>
        </p:nvSpPr>
        <p:spPr>
          <a:xfrm>
            <a:off x="285756" y="4440701"/>
            <a:ext cx="11904034" cy="1846659"/>
          </a:xfrm>
          <a:solidFill>
            <a:schemeClr val="bg1"/>
          </a:solidFill>
        </p:spPr>
        <p:txBody>
          <a:bodyPr wrap="square" lIns="0" tIns="0" rIns="0" bIns="0" anchor="t">
            <a:spAutoFit/>
          </a:bodyPr>
          <a:lstStyle/>
          <a:p>
            <a:r>
              <a:rPr lang="it-IT" sz="2000" dirty="0"/>
              <a:t>Like for the </a:t>
            </a:r>
            <a:r>
              <a:rPr lang="it-IT" sz="2000" dirty="0" err="1"/>
              <a:t>previous</a:t>
            </a:r>
            <a:r>
              <a:rPr lang="it-IT" sz="2000" dirty="0"/>
              <a:t> slide, </a:t>
            </a:r>
            <a:r>
              <a:rPr lang="it-IT" sz="2000" dirty="0" err="1"/>
              <a:t>we</a:t>
            </a:r>
            <a:r>
              <a:rPr lang="it-IT" sz="2000" dirty="0"/>
              <a:t> </a:t>
            </a:r>
            <a:r>
              <a:rPr lang="it-IT" sz="2000" dirty="0" err="1"/>
              <a:t>see</a:t>
            </a:r>
            <a:r>
              <a:rPr lang="it-IT" sz="2000" dirty="0"/>
              <a:t> a </a:t>
            </a:r>
            <a:r>
              <a:rPr lang="it-IT" sz="2000" dirty="0" err="1"/>
              <a:t>clearly</a:t>
            </a:r>
            <a:r>
              <a:rPr lang="it-IT" sz="2000" dirty="0"/>
              <a:t> </a:t>
            </a:r>
            <a:r>
              <a:rPr lang="it-IT" sz="2000" dirty="0" err="1"/>
              <a:t>higher</a:t>
            </a:r>
            <a:r>
              <a:rPr lang="it-IT" sz="2000" dirty="0"/>
              <a:t> overall index, for the </a:t>
            </a:r>
            <a:r>
              <a:rPr lang="it-IT" sz="2000" dirty="0" err="1"/>
              <a:t>same</a:t>
            </a:r>
            <a:r>
              <a:rPr lang="it-IT" sz="2000" dirty="0"/>
              <a:t> </a:t>
            </a:r>
            <a:r>
              <a:rPr lang="it-IT" sz="2000" dirty="0" err="1"/>
              <a:t>reasons</a:t>
            </a:r>
            <a:r>
              <a:rPr lang="it-IT" sz="2000" dirty="0"/>
              <a:t> </a:t>
            </a:r>
            <a:r>
              <a:rPr lang="it-IT" sz="2000" dirty="0" err="1"/>
              <a:t>we</a:t>
            </a:r>
            <a:r>
              <a:rPr lang="it-IT" sz="2000" dirty="0"/>
              <a:t> </a:t>
            </a:r>
            <a:r>
              <a:rPr lang="it-IT" sz="2000" dirty="0" err="1"/>
              <a:t>have</a:t>
            </a:r>
            <a:r>
              <a:rPr lang="it-IT" sz="2000" dirty="0"/>
              <a:t> just </a:t>
            </a:r>
            <a:r>
              <a:rPr lang="it-IT" sz="2000" dirty="0" err="1"/>
              <a:t>stated</a:t>
            </a:r>
            <a:r>
              <a:rPr lang="it-IT" sz="2000" dirty="0"/>
              <a:t>. An </a:t>
            </a:r>
            <a:r>
              <a:rPr lang="it-IT" sz="2000" dirty="0" err="1"/>
              <a:t>important</a:t>
            </a:r>
            <a:r>
              <a:rPr lang="it-IT" sz="2000" dirty="0"/>
              <a:t> </a:t>
            </a:r>
            <a:r>
              <a:rPr lang="it-IT" sz="2000" dirty="0" err="1"/>
              <a:t>observation</a:t>
            </a:r>
            <a:r>
              <a:rPr lang="it-IT" sz="2000" dirty="0"/>
              <a:t> </a:t>
            </a:r>
            <a:r>
              <a:rPr lang="it-IT" sz="2000" dirty="0" err="1"/>
              <a:t>is</a:t>
            </a:r>
            <a:r>
              <a:rPr lang="it-IT" sz="2000" dirty="0"/>
              <a:t> in the </a:t>
            </a:r>
            <a:r>
              <a:rPr lang="it-IT" sz="2000" dirty="0" err="1"/>
              <a:t>behaviour</a:t>
            </a:r>
            <a:r>
              <a:rPr lang="it-IT" sz="2000" dirty="0"/>
              <a:t> of </a:t>
            </a:r>
            <a:r>
              <a:rPr lang="it-IT" sz="2000" dirty="0" err="1"/>
              <a:t>modes</a:t>
            </a:r>
            <a:r>
              <a:rPr lang="it-IT" sz="2000" dirty="0"/>
              <a:t> TM0 and TE1 </a:t>
            </a:r>
            <a:r>
              <a:rPr lang="it-IT" sz="2000" dirty="0" err="1"/>
              <a:t>that</a:t>
            </a:r>
            <a:r>
              <a:rPr lang="it-IT" sz="2000" dirty="0"/>
              <a:t> show an </a:t>
            </a:r>
            <a:r>
              <a:rPr lang="it-IT" sz="2000" dirty="0" err="1"/>
              <a:t>example</a:t>
            </a:r>
            <a:r>
              <a:rPr lang="it-IT" sz="2000" dirty="0"/>
              <a:t> of </a:t>
            </a:r>
            <a:r>
              <a:rPr lang="it-IT" sz="2000" dirty="0" err="1"/>
              <a:t>anticrossing</a:t>
            </a:r>
            <a:r>
              <a:rPr lang="it-IT" sz="2000" dirty="0"/>
              <a:t>.</a:t>
            </a:r>
            <a:endParaRPr lang="it-IT" sz="2000" dirty="0">
              <a:solidFill>
                <a:srgbClr val="000000"/>
              </a:solidFill>
              <a:latin typeface="Calibri"/>
              <a:ea typeface="Calibri"/>
              <a:cs typeface="Calibri"/>
            </a:endParaRPr>
          </a:p>
          <a:p>
            <a:r>
              <a:rPr lang="it-IT" sz="2000" dirty="0">
                <a:solidFill>
                  <a:srgbClr val="000000"/>
                </a:solidFill>
                <a:latin typeface="Calibri"/>
                <a:ea typeface="Calibri"/>
                <a:cs typeface="Calibri"/>
              </a:rPr>
              <a:t>Due to the </a:t>
            </a:r>
            <a:r>
              <a:rPr lang="it-IT" sz="2000" dirty="0" err="1">
                <a:solidFill>
                  <a:srgbClr val="000000"/>
                </a:solidFill>
                <a:latin typeface="Calibri"/>
                <a:ea typeface="Calibri"/>
                <a:cs typeface="Calibri"/>
              </a:rPr>
              <a:t>extreme</a:t>
            </a:r>
            <a:r>
              <a:rPr lang="it-IT" sz="2000" dirty="0">
                <a:solidFill>
                  <a:srgbClr val="000000"/>
                </a:solidFill>
                <a:latin typeface="Calibri"/>
                <a:ea typeface="Calibri"/>
                <a:cs typeface="Calibri"/>
              </a:rPr>
              <a:t> close </a:t>
            </a:r>
            <a:r>
              <a:rPr lang="it-IT" sz="2000" dirty="0" err="1">
                <a:solidFill>
                  <a:srgbClr val="000000"/>
                </a:solidFill>
                <a:latin typeface="Calibri"/>
                <a:ea typeface="Calibri"/>
                <a:cs typeface="Calibri"/>
              </a:rPr>
              <a:t>confinement</a:t>
            </a:r>
            <a:r>
              <a:rPr lang="it-IT" sz="2000" dirty="0">
                <a:solidFill>
                  <a:srgbClr val="000000"/>
                </a:solidFill>
                <a:latin typeface="Calibri"/>
                <a:ea typeface="Calibri"/>
                <a:cs typeface="Calibri"/>
              </a:rPr>
              <a:t> of </a:t>
            </a:r>
            <a:r>
              <a:rPr lang="it-IT" sz="2000" dirty="0" err="1">
                <a:solidFill>
                  <a:srgbClr val="000000"/>
                </a:solidFill>
                <a:latin typeface="Calibri"/>
                <a:ea typeface="Calibri"/>
                <a:cs typeface="Calibri"/>
              </a:rPr>
              <a:t>modes</a:t>
            </a:r>
            <a:r>
              <a:rPr lang="it-IT" sz="2000" dirty="0">
                <a:solidFill>
                  <a:srgbClr val="000000"/>
                </a:solidFill>
                <a:latin typeface="Calibri"/>
                <a:ea typeface="Calibri"/>
                <a:cs typeface="Calibri"/>
              </a:rPr>
              <a:t> in the Silicon, and due to the high </a:t>
            </a:r>
            <a:r>
              <a:rPr lang="it-IT" sz="2000" dirty="0" err="1">
                <a:solidFill>
                  <a:srgbClr val="000000"/>
                </a:solidFill>
                <a:latin typeface="Calibri"/>
                <a:ea typeface="Calibri"/>
                <a:cs typeface="Calibri"/>
              </a:rPr>
              <a:t>refractive</a:t>
            </a:r>
            <a:r>
              <a:rPr lang="it-IT" sz="2000" dirty="0">
                <a:solidFill>
                  <a:srgbClr val="000000"/>
                </a:solidFill>
                <a:latin typeface="Calibri"/>
                <a:ea typeface="Calibri"/>
                <a:cs typeface="Calibri"/>
              </a:rPr>
              <a:t> index </a:t>
            </a:r>
            <a:r>
              <a:rPr lang="it-IT" sz="2000" dirty="0" err="1">
                <a:solidFill>
                  <a:srgbClr val="000000"/>
                </a:solidFill>
                <a:latin typeface="Calibri"/>
                <a:ea typeface="Calibri"/>
                <a:cs typeface="Calibri"/>
              </a:rPr>
              <a:t>contrast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between</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cladding</a:t>
            </a:r>
            <a:r>
              <a:rPr lang="it-IT" sz="2000" dirty="0">
                <a:solidFill>
                  <a:srgbClr val="000000"/>
                </a:solidFill>
                <a:latin typeface="Calibri"/>
                <a:ea typeface="Calibri"/>
                <a:cs typeface="Calibri"/>
              </a:rPr>
              <a:t> and core, </a:t>
            </a:r>
            <a:r>
              <a:rPr lang="it-IT" sz="2000" dirty="0" err="1">
                <a:solidFill>
                  <a:srgbClr val="000000"/>
                </a:solidFill>
                <a:latin typeface="Calibri"/>
                <a:ea typeface="Calibri"/>
                <a:cs typeface="Calibri"/>
              </a:rPr>
              <a:t>these</a:t>
            </a:r>
            <a:r>
              <a:rPr lang="it-IT" sz="2000" dirty="0">
                <a:solidFill>
                  <a:srgbClr val="000000"/>
                </a:solidFill>
                <a:latin typeface="Calibri"/>
                <a:ea typeface="Calibri"/>
                <a:cs typeface="Calibri"/>
              </a:rPr>
              <a:t> 2 </a:t>
            </a:r>
            <a:r>
              <a:rPr lang="it-IT" sz="2000" dirty="0" err="1">
                <a:solidFill>
                  <a:srgbClr val="000000"/>
                </a:solidFill>
                <a:latin typeface="Calibri"/>
                <a:ea typeface="Calibri"/>
                <a:cs typeface="Calibri"/>
              </a:rPr>
              <a:t>modes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get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very</a:t>
            </a:r>
            <a:r>
              <a:rPr lang="it-IT" sz="2000" dirty="0">
                <a:solidFill>
                  <a:srgbClr val="000000"/>
                </a:solidFill>
                <a:latin typeface="Calibri"/>
                <a:ea typeface="Calibri"/>
                <a:cs typeface="Calibri"/>
              </a:rPr>
              <a:t> close, </a:t>
            </a:r>
            <a:r>
              <a:rPr lang="it-IT" sz="2000" dirty="0" err="1">
                <a:solidFill>
                  <a:srgbClr val="000000"/>
                </a:solidFill>
                <a:latin typeface="Calibri"/>
                <a:ea typeface="Calibri"/>
                <a:cs typeface="Calibri"/>
              </a:rPr>
              <a:t>as</a:t>
            </a:r>
            <a:r>
              <a:rPr lang="it-IT" sz="2000" dirty="0">
                <a:solidFill>
                  <a:srgbClr val="000000"/>
                </a:solidFill>
                <a:latin typeface="Calibri"/>
                <a:ea typeface="Calibri"/>
                <a:cs typeface="Calibri"/>
              </a:rPr>
              <a:t> TM0 </a:t>
            </a:r>
            <a:r>
              <a:rPr lang="it-IT" sz="2000" dirty="0" err="1">
                <a:solidFill>
                  <a:srgbClr val="000000"/>
                </a:solidFill>
                <a:latin typeface="Calibri"/>
                <a:ea typeface="Calibri"/>
                <a:cs typeface="Calibri"/>
              </a:rPr>
              <a:t>rises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slowly</a:t>
            </a:r>
            <a:r>
              <a:rPr lang="it-IT" sz="2000" dirty="0">
                <a:solidFill>
                  <a:srgbClr val="000000"/>
                </a:solidFill>
                <a:latin typeface="Calibri"/>
                <a:ea typeface="Calibri"/>
                <a:cs typeface="Calibri"/>
              </a:rPr>
              <a:t> and the </a:t>
            </a:r>
            <a:r>
              <a:rPr lang="it-IT" sz="2000" dirty="0" err="1">
                <a:solidFill>
                  <a:srgbClr val="000000"/>
                </a:solidFill>
                <a:latin typeface="Calibri"/>
                <a:ea typeface="Calibri"/>
                <a:cs typeface="Calibri"/>
              </a:rPr>
              <a:t>lower</a:t>
            </a:r>
            <a:r>
              <a:rPr lang="it-IT" sz="2000" dirty="0">
                <a:solidFill>
                  <a:srgbClr val="000000"/>
                </a:solidFill>
                <a:latin typeface="Calibri"/>
                <a:ea typeface="Calibri"/>
                <a:cs typeface="Calibri"/>
              </a:rPr>
              <a:t> TE1 </a:t>
            </a:r>
            <a:r>
              <a:rPr lang="it-IT" sz="2000" dirty="0" err="1">
                <a:solidFill>
                  <a:srgbClr val="000000"/>
                </a:solidFill>
                <a:latin typeface="Calibri"/>
                <a:ea typeface="Calibri"/>
                <a:cs typeface="Calibri"/>
              </a:rPr>
              <a:t>rises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much</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faster</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Instead</a:t>
            </a:r>
            <a:r>
              <a:rPr lang="it-IT" sz="2000" dirty="0">
                <a:solidFill>
                  <a:srgbClr val="000000"/>
                </a:solidFill>
                <a:latin typeface="Calibri"/>
                <a:ea typeface="Calibri"/>
                <a:cs typeface="Calibri"/>
              </a:rPr>
              <a:t> of swapping, </a:t>
            </a:r>
            <a:r>
              <a:rPr lang="it-IT" sz="2000" dirty="0" err="1">
                <a:solidFill>
                  <a:srgbClr val="000000"/>
                </a:solidFill>
                <a:latin typeface="Calibri"/>
                <a:ea typeface="Calibri"/>
                <a:cs typeface="Calibri"/>
              </a:rPr>
              <a:t>having</a:t>
            </a:r>
            <a:r>
              <a:rPr lang="it-IT" sz="2000" dirty="0">
                <a:solidFill>
                  <a:srgbClr val="000000"/>
                </a:solidFill>
                <a:latin typeface="Calibri"/>
                <a:ea typeface="Calibri"/>
                <a:cs typeface="Calibri"/>
              </a:rPr>
              <a:t> TE1 </a:t>
            </a:r>
            <a:r>
              <a:rPr lang="it-IT" sz="2000" dirty="0" err="1">
                <a:solidFill>
                  <a:srgbClr val="000000"/>
                </a:solidFill>
                <a:latin typeface="Calibri"/>
                <a:ea typeface="Calibri"/>
                <a:cs typeface="Calibri"/>
              </a:rPr>
              <a:t>surpass</a:t>
            </a:r>
            <a:r>
              <a:rPr lang="it-IT" sz="2000" dirty="0">
                <a:solidFill>
                  <a:srgbClr val="000000"/>
                </a:solidFill>
                <a:latin typeface="Calibri"/>
                <a:ea typeface="Calibri"/>
                <a:cs typeface="Calibri"/>
              </a:rPr>
              <a:t> TM0, </a:t>
            </a:r>
            <a:r>
              <a:rPr lang="it-IT" sz="2000" dirty="0" err="1">
                <a:solidFill>
                  <a:srgbClr val="000000"/>
                </a:solidFill>
                <a:latin typeface="Calibri"/>
                <a:ea typeface="Calibri"/>
                <a:cs typeface="Calibri"/>
              </a:rPr>
              <a:t>both</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modes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have</a:t>
            </a:r>
            <a:r>
              <a:rPr lang="it-IT" sz="2000" dirty="0">
                <a:solidFill>
                  <a:srgbClr val="000000"/>
                </a:solidFill>
                <a:latin typeface="Calibri"/>
                <a:ea typeface="Calibri"/>
                <a:cs typeface="Calibri"/>
              </a:rPr>
              <a:t> a </a:t>
            </a:r>
            <a:r>
              <a:rPr lang="it-IT" sz="2000" dirty="0" err="1">
                <a:solidFill>
                  <a:srgbClr val="000000"/>
                </a:solidFill>
                <a:latin typeface="Calibri"/>
                <a:ea typeface="Calibri"/>
                <a:cs typeface="Calibri"/>
              </a:rPr>
              <a:t>modal</a:t>
            </a:r>
            <a:r>
              <a:rPr lang="it-IT" sz="2000" dirty="0">
                <a:solidFill>
                  <a:srgbClr val="000000"/>
                </a:solidFill>
                <a:latin typeface="Calibri"/>
                <a:ea typeface="Calibri"/>
                <a:cs typeface="Calibri"/>
              </a:rPr>
              <a:t> switch </a:t>
            </a:r>
            <a:r>
              <a:rPr lang="it-IT" sz="2000" dirty="0" err="1">
                <a:solidFill>
                  <a:srgbClr val="000000"/>
                </a:solidFill>
                <a:latin typeface="Calibri"/>
                <a:ea typeface="Calibri"/>
                <a:cs typeface="Calibri"/>
              </a:rPr>
              <a:t>passing</a:t>
            </a:r>
            <a:r>
              <a:rPr lang="it-IT" sz="2000" dirty="0">
                <a:solidFill>
                  <a:srgbClr val="000000"/>
                </a:solidFill>
                <a:latin typeface="Calibri"/>
                <a:ea typeface="Calibri"/>
                <a:cs typeface="Calibri"/>
              </a:rPr>
              <a:t> from one </a:t>
            </a:r>
            <a:r>
              <a:rPr lang="it-IT" sz="2000" dirty="0" err="1">
                <a:solidFill>
                  <a:srgbClr val="000000"/>
                </a:solidFill>
                <a:latin typeface="Calibri"/>
                <a:ea typeface="Calibri"/>
                <a:cs typeface="Calibri"/>
              </a:rPr>
              <a:t>polarization</a:t>
            </a:r>
            <a:r>
              <a:rPr lang="it-IT" sz="2000" dirty="0">
                <a:solidFill>
                  <a:srgbClr val="000000"/>
                </a:solidFill>
                <a:latin typeface="Calibri"/>
                <a:ea typeface="Calibri"/>
                <a:cs typeface="Calibri"/>
              </a:rPr>
              <a:t> to the opposite.</a:t>
            </a:r>
          </a:p>
        </p:txBody>
      </p:sp>
      <p:sp>
        <p:nvSpPr>
          <p:cNvPr id="4" name="Segnaposto piè di pagina 3">
            <a:extLst>
              <a:ext uri="{FF2B5EF4-FFF2-40B4-BE49-F238E27FC236}">
                <a16:creationId xmlns:a16="http://schemas.microsoft.com/office/drawing/2014/main" id="{75AD6C74-DAC6-21B2-1AC5-63272FED631E}"/>
              </a:ext>
            </a:extLst>
          </p:cNvPr>
          <p:cNvSpPr>
            <a:spLocks noGrp="1"/>
          </p:cNvSpPr>
          <p:nvPr>
            <p:ph type="ftr" sz="quarter" idx="5"/>
          </p:nvPr>
        </p:nvSpPr>
        <p:spPr/>
        <p:txBody>
          <a:bodyPr/>
          <a:lstStyle/>
          <a:p>
            <a:pPr marL="12700">
              <a:spcBef>
                <a:spcPts val="15"/>
              </a:spcBef>
            </a:pPr>
            <a:r>
              <a:rPr lang="es-ES" spc="-5"/>
              <a:t>LAB 1.0 WAVEGUIDES</a:t>
            </a:r>
          </a:p>
        </p:txBody>
      </p:sp>
      <p:sp>
        <p:nvSpPr>
          <p:cNvPr id="5" name="Segnaposto numero diapositiva 4">
            <a:extLst>
              <a:ext uri="{FF2B5EF4-FFF2-40B4-BE49-F238E27FC236}">
                <a16:creationId xmlns:a16="http://schemas.microsoft.com/office/drawing/2014/main" id="{04A96A50-E5C5-51EF-9F55-0B8CC89C3015}"/>
              </a:ext>
            </a:extLst>
          </p:cNvPr>
          <p:cNvSpPr>
            <a:spLocks noGrp="1"/>
          </p:cNvSpPr>
          <p:nvPr>
            <p:ph type="sldNum" sz="quarter" idx="7"/>
          </p:nvPr>
        </p:nvSpPr>
        <p:spPr/>
        <p:txBody>
          <a:bodyPr/>
          <a:lstStyle/>
          <a:p>
            <a:fld id="{B6F15528-21DE-4FAA-801E-634DDDAF4B2B}" type="slidenum">
              <a:rPr lang="it-IT"/>
              <a:t>10</a:t>
            </a:fld>
            <a:endParaRPr lang="it-IT"/>
          </a:p>
        </p:txBody>
      </p:sp>
      <p:pic>
        <p:nvPicPr>
          <p:cNvPr id="7" name="Immagine 6" descr="Immagine che contiene testo, diagramma, linea, Diagramma&#10;&#10;Il contenuto generato dall&amp;#39;IA potrebbe non essere corretto.">
            <a:extLst>
              <a:ext uri="{FF2B5EF4-FFF2-40B4-BE49-F238E27FC236}">
                <a16:creationId xmlns:a16="http://schemas.microsoft.com/office/drawing/2014/main" id="{120A11B0-9EB1-A798-76CA-78C0B05BD0FA}"/>
              </a:ext>
            </a:extLst>
          </p:cNvPr>
          <p:cNvPicPr>
            <a:picLocks noChangeAspect="1"/>
          </p:cNvPicPr>
          <p:nvPr/>
        </p:nvPicPr>
        <p:blipFill>
          <a:blip r:embed="rId2"/>
          <a:stretch>
            <a:fillRect/>
          </a:stretch>
        </p:blipFill>
        <p:spPr>
          <a:xfrm>
            <a:off x="290926" y="850623"/>
            <a:ext cx="5668755" cy="3279361"/>
          </a:xfrm>
          <a:prstGeom prst="rect">
            <a:avLst/>
          </a:prstGeom>
        </p:spPr>
      </p:pic>
      <p:pic>
        <p:nvPicPr>
          <p:cNvPr id="9" name="Immagine 8">
            <a:extLst>
              <a:ext uri="{FF2B5EF4-FFF2-40B4-BE49-F238E27FC236}">
                <a16:creationId xmlns:a16="http://schemas.microsoft.com/office/drawing/2014/main" id="{078AE492-7752-B9C5-C5C1-893974B0C784}"/>
              </a:ext>
            </a:extLst>
          </p:cNvPr>
          <p:cNvPicPr>
            <a:picLocks noChangeAspect="1"/>
          </p:cNvPicPr>
          <p:nvPr/>
        </p:nvPicPr>
        <p:blipFill>
          <a:blip r:embed="rId3"/>
          <a:stretch>
            <a:fillRect/>
          </a:stretch>
        </p:blipFill>
        <p:spPr>
          <a:xfrm>
            <a:off x="5961755" y="667614"/>
            <a:ext cx="6018078" cy="3464118"/>
          </a:xfrm>
          <a:prstGeom prst="rect">
            <a:avLst/>
          </a:prstGeom>
        </p:spPr>
      </p:pic>
    </p:spTree>
    <p:extLst>
      <p:ext uri="{BB962C8B-B14F-4D97-AF65-F5344CB8AC3E}">
        <p14:creationId xmlns:p14="http://schemas.microsoft.com/office/powerpoint/2010/main" val="3371627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0C45E7-86CB-DA54-D573-AA03799F0EF6}"/>
              </a:ext>
            </a:extLst>
          </p:cNvPr>
          <p:cNvSpPr>
            <a:spLocks noGrp="1"/>
          </p:cNvSpPr>
          <p:nvPr>
            <p:ph type="title"/>
          </p:nvPr>
        </p:nvSpPr>
        <p:spPr/>
        <p:txBody>
          <a:bodyPr wrap="square" lIns="0" tIns="0" rIns="0" bIns="0" anchor="t">
            <a:spAutoFit/>
          </a:bodyPr>
          <a:lstStyle/>
          <a:p>
            <a:r>
              <a:rPr lang="it-IT" dirty="0">
                <a:ea typeface="Calibri"/>
              </a:rPr>
              <a:t>EXTRA 3: safe </a:t>
            </a:r>
            <a:r>
              <a:rPr lang="it-IT" dirty="0" err="1">
                <a:ea typeface="Calibri"/>
              </a:rPr>
              <a:t>radius</a:t>
            </a:r>
            <a:r>
              <a:rPr lang="it-IT" dirty="0">
                <a:ea typeface="Calibri"/>
              </a:rPr>
              <a:t> </a:t>
            </a:r>
            <a:r>
              <a:rPr lang="it-IT" dirty="0" err="1">
                <a:ea typeface="Calibri"/>
              </a:rPr>
              <a:t>calculation</a:t>
            </a:r>
            <a:r>
              <a:rPr lang="it-IT" dirty="0">
                <a:ea typeface="Calibri"/>
              </a:rPr>
              <a:t> for Silicon core </a:t>
            </a:r>
            <a:r>
              <a:rPr lang="it-IT" dirty="0" err="1">
                <a:ea typeface="Calibri"/>
              </a:rPr>
              <a:t>wavelength</a:t>
            </a:r>
            <a:endParaRPr lang="it-IT" dirty="0" err="1"/>
          </a:p>
        </p:txBody>
      </p:sp>
      <p:sp>
        <p:nvSpPr>
          <p:cNvPr id="3" name="Segnaposto testo 2">
            <a:extLst>
              <a:ext uri="{FF2B5EF4-FFF2-40B4-BE49-F238E27FC236}">
                <a16:creationId xmlns:a16="http://schemas.microsoft.com/office/drawing/2014/main" id="{3A219EE1-0E4C-2877-B8C2-F20AA2BA037D}"/>
              </a:ext>
            </a:extLst>
          </p:cNvPr>
          <p:cNvSpPr>
            <a:spLocks noGrp="1"/>
          </p:cNvSpPr>
          <p:nvPr>
            <p:ph type="body" idx="1"/>
          </p:nvPr>
        </p:nvSpPr>
        <p:spPr>
          <a:xfrm>
            <a:off x="7477897" y="1287938"/>
            <a:ext cx="4320746" cy="4308872"/>
          </a:xfrm>
        </p:spPr>
        <p:txBody>
          <a:bodyPr wrap="square" lIns="0" tIns="0" rIns="0" bIns="0" anchor="t">
            <a:spAutoFit/>
          </a:bodyPr>
          <a:lstStyle/>
          <a:p>
            <a:r>
              <a:rPr lang="it-IT" sz="2000" dirty="0"/>
              <a:t>Here </a:t>
            </a:r>
            <a:r>
              <a:rPr lang="it-IT" sz="2000" dirty="0" err="1"/>
              <a:t>we</a:t>
            </a:r>
            <a:r>
              <a:rPr lang="it-IT" sz="2000" dirty="0"/>
              <a:t> show the </a:t>
            </a:r>
            <a:r>
              <a:rPr lang="it-IT" sz="2000" dirty="0" err="1"/>
              <a:t>approximate</a:t>
            </a:r>
            <a:r>
              <a:rPr lang="it-IT" sz="2000" dirty="0"/>
              <a:t> safe </a:t>
            </a:r>
            <a:r>
              <a:rPr lang="it-IT" sz="2000" dirty="0" err="1"/>
              <a:t>radius</a:t>
            </a:r>
            <a:r>
              <a:rPr lang="it-IT" sz="2000" dirty="0"/>
              <a:t> for the Silicon core </a:t>
            </a:r>
            <a:r>
              <a:rPr lang="it-IT" sz="2000" dirty="0" err="1"/>
              <a:t>waveguide</a:t>
            </a:r>
            <a:r>
              <a:rPr lang="it-IT" sz="2000" dirty="0"/>
              <a:t> </a:t>
            </a:r>
            <a:r>
              <a:rPr lang="it-IT" sz="2000" dirty="0" err="1"/>
              <a:t>which</a:t>
            </a:r>
            <a:r>
              <a:rPr lang="it-IT" sz="2000" dirty="0"/>
              <a:t> shows to be of an </a:t>
            </a:r>
            <a:r>
              <a:rPr lang="it-IT" sz="2000" dirty="0" err="1"/>
              <a:t>extremely</a:t>
            </a:r>
            <a:r>
              <a:rPr lang="it-IT" sz="2000" dirty="0"/>
              <a:t> low </a:t>
            </a:r>
            <a:r>
              <a:rPr lang="it-IT" sz="2000" dirty="0" err="1"/>
              <a:t>value</a:t>
            </a:r>
            <a:r>
              <a:rPr lang="it-IT" sz="2000" dirty="0"/>
              <a:t>.</a:t>
            </a:r>
            <a:endParaRPr lang="it-IT" sz="2000" dirty="0">
              <a:solidFill>
                <a:srgbClr val="000000"/>
              </a:solidFill>
              <a:latin typeface="Calibri"/>
              <a:ea typeface="Calibri"/>
              <a:cs typeface="Calibri"/>
            </a:endParaRPr>
          </a:p>
          <a:p>
            <a:r>
              <a:rPr lang="it-IT" sz="2000" dirty="0" err="1">
                <a:solidFill>
                  <a:srgbClr val="000000"/>
                </a:solidFill>
                <a:latin typeface="Calibri"/>
                <a:ea typeface="Calibri"/>
                <a:cs typeface="Calibri"/>
              </a:rPr>
              <a:t>This</a:t>
            </a:r>
            <a:r>
              <a:rPr lang="it-IT" sz="2000" dirty="0">
                <a:solidFill>
                  <a:srgbClr val="000000"/>
                </a:solidFill>
                <a:latin typeface="Calibri"/>
                <a:ea typeface="Calibri"/>
                <a:cs typeface="Calibri"/>
              </a:rPr>
              <a:t> low Radius acts </a:t>
            </a:r>
            <a:r>
              <a:rPr lang="it-IT" sz="2000" dirty="0" err="1">
                <a:solidFill>
                  <a:srgbClr val="000000"/>
                </a:solidFill>
                <a:latin typeface="Calibri"/>
                <a:ea typeface="Calibri"/>
                <a:cs typeface="Calibri"/>
              </a:rPr>
              <a:t>as</a:t>
            </a:r>
            <a:r>
              <a:rPr lang="it-IT" sz="2000" dirty="0">
                <a:solidFill>
                  <a:srgbClr val="000000"/>
                </a:solidFill>
                <a:latin typeface="Calibri"/>
                <a:ea typeface="Calibri"/>
                <a:cs typeface="Calibri"/>
              </a:rPr>
              <a:t> a switch, </a:t>
            </a:r>
            <a:r>
              <a:rPr lang="it-IT" sz="2000" dirty="0" err="1">
                <a:solidFill>
                  <a:srgbClr val="000000"/>
                </a:solidFill>
                <a:latin typeface="Calibri"/>
                <a:ea typeface="Calibri"/>
                <a:cs typeface="Calibri"/>
              </a:rPr>
              <a:t>because</a:t>
            </a:r>
            <a:r>
              <a:rPr lang="it-IT" sz="2000" dirty="0">
                <a:solidFill>
                  <a:srgbClr val="000000"/>
                </a:solidFill>
                <a:latin typeface="Calibri"/>
                <a:ea typeface="Calibri"/>
                <a:cs typeface="Calibri"/>
              </a:rPr>
              <a:t> for </a:t>
            </a:r>
            <a:r>
              <a:rPr lang="it-IT" sz="2000" dirty="0" err="1">
                <a:solidFill>
                  <a:srgbClr val="000000"/>
                </a:solidFill>
                <a:latin typeface="Calibri"/>
                <a:ea typeface="Calibri"/>
                <a:cs typeface="Calibri"/>
              </a:rPr>
              <a:t>lower</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values</a:t>
            </a:r>
            <a:r>
              <a:rPr lang="it-IT" sz="2000" dirty="0">
                <a:solidFill>
                  <a:srgbClr val="000000"/>
                </a:solidFill>
                <a:latin typeface="Calibri"/>
                <a:ea typeface="Calibri"/>
                <a:cs typeface="Calibri"/>
              </a:rPr>
              <a:t> the </a:t>
            </a:r>
            <a:r>
              <a:rPr lang="it-IT" sz="2000" dirty="0" err="1">
                <a:solidFill>
                  <a:srgbClr val="000000"/>
                </a:solidFill>
                <a:latin typeface="Calibri"/>
                <a:ea typeface="Calibri"/>
                <a:cs typeface="Calibri"/>
              </a:rPr>
              <a:t>loss</a:t>
            </a:r>
            <a:r>
              <a:rPr lang="it-IT" sz="2000" dirty="0">
                <a:solidFill>
                  <a:srgbClr val="000000"/>
                </a:solidFill>
                <a:latin typeface="Calibri"/>
                <a:ea typeface="Calibri"/>
                <a:cs typeface="Calibri"/>
              </a:rPr>
              <a:t> spikes </a:t>
            </a:r>
            <a:r>
              <a:rPr lang="it-IT" sz="2000" dirty="0" err="1">
                <a:solidFill>
                  <a:srgbClr val="000000"/>
                </a:solidFill>
                <a:latin typeface="Calibri"/>
                <a:ea typeface="Calibri"/>
                <a:cs typeface="Calibri"/>
              </a:rPr>
              <a:t>almost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instantly</a:t>
            </a:r>
            <a:r>
              <a:rPr lang="it-IT" sz="2000" dirty="0">
                <a:solidFill>
                  <a:srgbClr val="000000"/>
                </a:solidFill>
                <a:latin typeface="Calibri"/>
                <a:ea typeface="Calibri"/>
                <a:cs typeface="Calibri"/>
              </a:rPr>
              <a:t> with a </a:t>
            </a:r>
            <a:r>
              <a:rPr lang="it-IT" sz="2000" dirty="0" err="1">
                <a:solidFill>
                  <a:srgbClr val="000000"/>
                </a:solidFill>
                <a:latin typeface="Calibri"/>
                <a:ea typeface="Calibri"/>
                <a:cs typeface="Calibri"/>
              </a:rPr>
              <a:t>near</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vertical</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shape</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whereas</a:t>
            </a:r>
            <a:r>
              <a:rPr lang="it-IT" sz="2000" dirty="0">
                <a:solidFill>
                  <a:srgbClr val="000000"/>
                </a:solidFill>
                <a:latin typeface="Calibri"/>
                <a:ea typeface="Calibri"/>
                <a:cs typeface="Calibri"/>
              </a:rPr>
              <a:t> for </a:t>
            </a:r>
            <a:r>
              <a:rPr lang="it-IT" sz="2000" dirty="0" err="1">
                <a:solidFill>
                  <a:srgbClr val="000000"/>
                </a:solidFill>
                <a:latin typeface="Calibri"/>
                <a:ea typeface="Calibri"/>
                <a:cs typeface="Calibri"/>
              </a:rPr>
              <a:t>values</a:t>
            </a:r>
            <a:r>
              <a:rPr lang="it-IT" sz="2000" dirty="0">
                <a:solidFill>
                  <a:srgbClr val="000000"/>
                </a:solidFill>
                <a:latin typeface="Calibri"/>
                <a:ea typeface="Calibri"/>
                <a:cs typeface="Calibri"/>
              </a:rPr>
              <a:t> just </a:t>
            </a:r>
            <a:r>
              <a:rPr lang="it-IT" sz="2000" dirty="0" err="1">
                <a:solidFill>
                  <a:srgbClr val="000000"/>
                </a:solidFill>
                <a:latin typeface="Calibri"/>
                <a:ea typeface="Calibri"/>
                <a:cs typeface="Calibri"/>
              </a:rPr>
              <a:t>above</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it</a:t>
            </a:r>
            <a:r>
              <a:rPr lang="it-IT" sz="2000" dirty="0">
                <a:solidFill>
                  <a:srgbClr val="000000"/>
                </a:solidFill>
                <a:latin typeface="Calibri"/>
                <a:ea typeface="Calibri"/>
                <a:cs typeface="Calibri"/>
              </a:rPr>
              <a:t> the </a:t>
            </a:r>
            <a:r>
              <a:rPr lang="it-IT" sz="2000" dirty="0" err="1">
                <a:solidFill>
                  <a:srgbClr val="000000"/>
                </a:solidFill>
                <a:latin typeface="Calibri"/>
                <a:ea typeface="Calibri"/>
                <a:cs typeface="Calibri"/>
              </a:rPr>
              <a:t>behaviour</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is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immediately</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identical</a:t>
            </a:r>
            <a:r>
              <a:rPr lang="it-IT" sz="2000" dirty="0">
                <a:solidFill>
                  <a:srgbClr val="000000"/>
                </a:solidFill>
                <a:latin typeface="Calibri"/>
                <a:ea typeface="Calibri"/>
                <a:cs typeface="Calibri"/>
              </a:rPr>
              <a:t> to </a:t>
            </a:r>
            <a:r>
              <a:rPr lang="it-IT" sz="2000" dirty="0" err="1">
                <a:solidFill>
                  <a:srgbClr val="000000"/>
                </a:solidFill>
                <a:latin typeface="Calibri"/>
                <a:ea typeface="Calibri"/>
                <a:cs typeface="Calibri"/>
              </a:rPr>
              <a:t>that</a:t>
            </a:r>
            <a:r>
              <a:rPr lang="it-IT" sz="2000" dirty="0">
                <a:solidFill>
                  <a:srgbClr val="000000"/>
                </a:solidFill>
                <a:latin typeface="Calibri"/>
                <a:ea typeface="Calibri"/>
                <a:cs typeface="Calibri"/>
              </a:rPr>
              <a:t> of a </a:t>
            </a:r>
            <a:r>
              <a:rPr lang="it-IT" sz="2000" dirty="0" err="1">
                <a:solidFill>
                  <a:srgbClr val="000000"/>
                </a:solidFill>
                <a:latin typeface="Calibri"/>
                <a:ea typeface="Calibri"/>
                <a:cs typeface="Calibri"/>
              </a:rPr>
              <a:t>straight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waveguide</a:t>
            </a:r>
            <a:r>
              <a:rPr lang="it-IT" sz="2000" dirty="0">
                <a:solidFill>
                  <a:srgbClr val="000000"/>
                </a:solidFill>
                <a:latin typeface="Calibri"/>
                <a:ea typeface="Calibri"/>
                <a:cs typeface="Calibri"/>
              </a:rPr>
              <a:t>.</a:t>
            </a:r>
            <a:br>
              <a:rPr lang="it-IT" sz="2000" dirty="0">
                <a:latin typeface="Calibri"/>
                <a:ea typeface="Calibri"/>
                <a:cs typeface="Calibri"/>
              </a:rPr>
            </a:br>
            <a:r>
              <a:rPr lang="it-IT" sz="2000" dirty="0" err="1">
                <a:solidFill>
                  <a:srgbClr val="000000"/>
                </a:solidFill>
                <a:latin typeface="Calibri"/>
                <a:ea typeface="Calibri"/>
                <a:cs typeface="Calibri"/>
              </a:rPr>
              <a:t>This</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proves</a:t>
            </a:r>
            <a:r>
              <a:rPr lang="it-IT" sz="2000" dirty="0">
                <a:solidFill>
                  <a:srgbClr val="000000"/>
                </a:solidFill>
                <a:latin typeface="Calibri"/>
                <a:ea typeface="Calibri"/>
                <a:cs typeface="Calibri"/>
              </a:rPr>
              <a:t> the </a:t>
            </a:r>
            <a:r>
              <a:rPr lang="it-IT" sz="2000" dirty="0" err="1">
                <a:solidFill>
                  <a:srgbClr val="000000"/>
                </a:solidFill>
                <a:latin typeface="Calibri"/>
                <a:ea typeface="Calibri"/>
                <a:cs typeface="Calibri"/>
              </a:rPr>
              <a:t>great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robustness</a:t>
            </a:r>
            <a:r>
              <a:rPr lang="it-IT" sz="2000" dirty="0">
                <a:solidFill>
                  <a:srgbClr val="000000"/>
                </a:solidFill>
                <a:latin typeface="Calibri"/>
                <a:ea typeface="Calibri"/>
                <a:cs typeface="Calibri"/>
              </a:rPr>
              <a:t> to bending mismatch </a:t>
            </a:r>
            <a:r>
              <a:rPr lang="it-IT" sz="2000" dirty="0" err="1">
                <a:solidFill>
                  <a:srgbClr val="000000"/>
                </a:solidFill>
                <a:latin typeface="Calibri"/>
                <a:ea typeface="Calibri"/>
                <a:cs typeface="Calibri"/>
              </a:rPr>
              <a:t>losses</a:t>
            </a:r>
            <a:r>
              <a:rPr lang="it-IT" sz="2000" dirty="0">
                <a:solidFill>
                  <a:srgbClr val="000000"/>
                </a:solidFill>
                <a:latin typeface="Calibri"/>
                <a:ea typeface="Calibri"/>
                <a:cs typeface="Calibri"/>
              </a:rPr>
              <a:t> of </a:t>
            </a:r>
            <a:r>
              <a:rPr lang="it-IT" sz="2000" dirty="0" err="1">
                <a:solidFill>
                  <a:srgbClr val="000000"/>
                </a:solidFill>
                <a:latin typeface="Calibri"/>
                <a:ea typeface="Calibri"/>
                <a:cs typeface="Calibri"/>
              </a:rPr>
              <a:t>this</a:t>
            </a:r>
            <a:r>
              <a:rPr lang="it-IT" sz="2000" dirty="0">
                <a:solidFill>
                  <a:srgbClr val="000000"/>
                </a:solidFill>
                <a:latin typeface="Calibri"/>
                <a:ea typeface="Calibri"/>
                <a:cs typeface="Calibri"/>
              </a:rPr>
              <a:t> silicon </a:t>
            </a:r>
            <a:r>
              <a:rPr lang="it-IT" sz="2000" dirty="0" err="1">
                <a:solidFill>
                  <a:srgbClr val="000000"/>
                </a:solidFill>
                <a:latin typeface="Calibri"/>
                <a:ea typeface="Calibri"/>
                <a:cs typeface="Calibri"/>
              </a:rPr>
              <a:t>waveguide</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aided</a:t>
            </a:r>
            <a:r>
              <a:rPr lang="it-IT" sz="2000" dirty="0">
                <a:solidFill>
                  <a:srgbClr val="000000"/>
                </a:solidFill>
                <a:latin typeface="Calibri"/>
                <a:ea typeface="Calibri"/>
                <a:cs typeface="Calibri"/>
              </a:rPr>
              <a:t> by the strong </a:t>
            </a:r>
            <a:r>
              <a:rPr lang="it-IT" sz="2000" dirty="0" err="1">
                <a:solidFill>
                  <a:srgbClr val="000000"/>
                </a:solidFill>
                <a:latin typeface="Calibri"/>
                <a:ea typeface="Calibri"/>
                <a:cs typeface="Calibri"/>
              </a:rPr>
              <a:t>confinement</a:t>
            </a:r>
            <a:r>
              <a:rPr lang="it-IT" sz="2000" dirty="0">
                <a:solidFill>
                  <a:srgbClr val="000000"/>
                </a:solidFill>
                <a:latin typeface="Calibri"/>
                <a:ea typeface="Calibri"/>
                <a:cs typeface="Calibri"/>
              </a:rPr>
              <a:t> </a:t>
            </a:r>
            <a:r>
              <a:rPr lang="it-IT" sz="2000" dirty="0" err="1">
                <a:solidFill>
                  <a:srgbClr val="000000"/>
                </a:solidFill>
                <a:latin typeface="Calibri"/>
                <a:ea typeface="Calibri"/>
                <a:cs typeface="Calibri"/>
              </a:rPr>
              <a:t>capacities</a:t>
            </a:r>
            <a:r>
              <a:rPr lang="it-IT" sz="2000" dirty="0">
                <a:solidFill>
                  <a:srgbClr val="000000"/>
                </a:solidFill>
                <a:latin typeface="Calibri"/>
                <a:ea typeface="Calibri"/>
                <a:cs typeface="Calibri"/>
              </a:rPr>
              <a:t> of </a:t>
            </a:r>
            <a:r>
              <a:rPr lang="it-IT" sz="2000" dirty="0" err="1">
                <a:solidFill>
                  <a:srgbClr val="000000"/>
                </a:solidFill>
                <a:latin typeface="Calibri"/>
                <a:ea typeface="Calibri"/>
                <a:cs typeface="Calibri"/>
              </a:rPr>
              <a:t>its</a:t>
            </a:r>
            <a:r>
              <a:rPr lang="it-IT" sz="2000" dirty="0">
                <a:solidFill>
                  <a:srgbClr val="000000"/>
                </a:solidFill>
                <a:latin typeface="Calibri"/>
                <a:ea typeface="Calibri"/>
                <a:cs typeface="Calibri"/>
              </a:rPr>
              <a:t> core.</a:t>
            </a:r>
          </a:p>
        </p:txBody>
      </p:sp>
      <p:sp>
        <p:nvSpPr>
          <p:cNvPr id="4" name="Segnaposto piè di pagina 3">
            <a:extLst>
              <a:ext uri="{FF2B5EF4-FFF2-40B4-BE49-F238E27FC236}">
                <a16:creationId xmlns:a16="http://schemas.microsoft.com/office/drawing/2014/main" id="{D2DFA8CE-7959-FB67-B0D9-1C030FB71A2C}"/>
              </a:ext>
            </a:extLst>
          </p:cNvPr>
          <p:cNvSpPr>
            <a:spLocks noGrp="1"/>
          </p:cNvSpPr>
          <p:nvPr>
            <p:ph type="ftr" sz="quarter" idx="5"/>
          </p:nvPr>
        </p:nvSpPr>
        <p:spPr/>
        <p:txBody>
          <a:bodyPr/>
          <a:lstStyle/>
          <a:p>
            <a:pPr marL="12700">
              <a:spcBef>
                <a:spcPts val="15"/>
              </a:spcBef>
            </a:pPr>
            <a:r>
              <a:rPr lang="es-ES" spc="-5"/>
              <a:t>LAB 1.0 WAVEGUIDES</a:t>
            </a:r>
          </a:p>
        </p:txBody>
      </p:sp>
      <p:sp>
        <p:nvSpPr>
          <p:cNvPr id="5" name="Segnaposto numero diapositiva 4">
            <a:extLst>
              <a:ext uri="{FF2B5EF4-FFF2-40B4-BE49-F238E27FC236}">
                <a16:creationId xmlns:a16="http://schemas.microsoft.com/office/drawing/2014/main" id="{C9D1750A-D051-A741-9E76-37CEE89300AF}"/>
              </a:ext>
            </a:extLst>
          </p:cNvPr>
          <p:cNvSpPr>
            <a:spLocks noGrp="1"/>
          </p:cNvSpPr>
          <p:nvPr>
            <p:ph type="sldNum" sz="quarter" idx="7"/>
          </p:nvPr>
        </p:nvSpPr>
        <p:spPr/>
        <p:txBody>
          <a:bodyPr/>
          <a:lstStyle/>
          <a:p>
            <a:fld id="{B6F15528-21DE-4FAA-801E-634DDDAF4B2B}" type="slidenum">
              <a:rPr lang="it-IT"/>
              <a:t>11</a:t>
            </a:fld>
            <a:endParaRPr lang="it-IT"/>
          </a:p>
        </p:txBody>
      </p:sp>
      <p:pic>
        <p:nvPicPr>
          <p:cNvPr id="7" name="Immagine 6" descr="Immagine che contiene testo, schermata, Diagramma, linea&#10;&#10;Il contenuto generato dall&amp;#39;IA potrebbe non essere corretto.">
            <a:extLst>
              <a:ext uri="{FF2B5EF4-FFF2-40B4-BE49-F238E27FC236}">
                <a16:creationId xmlns:a16="http://schemas.microsoft.com/office/drawing/2014/main" id="{84EB7781-8862-4EF5-DC2B-CC5A02F4BB65}"/>
              </a:ext>
            </a:extLst>
          </p:cNvPr>
          <p:cNvPicPr>
            <a:picLocks noChangeAspect="1"/>
          </p:cNvPicPr>
          <p:nvPr/>
        </p:nvPicPr>
        <p:blipFill>
          <a:blip r:embed="rId2"/>
          <a:srcRect t="1351" r="155" b="901"/>
          <a:stretch>
            <a:fillRect/>
          </a:stretch>
        </p:blipFill>
        <p:spPr>
          <a:xfrm>
            <a:off x="1121" y="1053064"/>
            <a:ext cx="7089148" cy="4796006"/>
          </a:xfrm>
          <a:prstGeom prst="rect">
            <a:avLst/>
          </a:prstGeom>
        </p:spPr>
      </p:pic>
    </p:spTree>
    <p:extLst>
      <p:ext uri="{BB962C8B-B14F-4D97-AF65-F5344CB8AC3E}">
        <p14:creationId xmlns:p14="http://schemas.microsoft.com/office/powerpoint/2010/main" val="2134736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12</Slides>
  <Notes>5</Notes>
  <HiddenSlides>0</HiddenSlides>
  <ScaleCrop>false</ScaleCrop>
  <HeadingPairs>
    <vt:vector size="4" baseType="variant">
      <vt:variant>
        <vt:lpstr>Tema</vt:lpstr>
      </vt:variant>
      <vt:variant>
        <vt:i4>1</vt:i4>
      </vt:variant>
      <vt:variant>
        <vt:lpstr>Titoli diapositive</vt:lpstr>
      </vt:variant>
      <vt:variant>
        <vt:i4>12</vt:i4>
      </vt:variant>
    </vt:vector>
  </HeadingPairs>
  <TitlesOfParts>
    <vt:vector size="13" baseType="lpstr">
      <vt:lpstr>Office Theme</vt:lpstr>
      <vt:lpstr>Presentazione standard di PowerPoint</vt:lpstr>
      <vt:lpstr>Instructions General</vt:lpstr>
      <vt:lpstr>Learning outcome #1 – Effective index of a waveguide </vt:lpstr>
      <vt:lpstr>Presentazione standard di PowerPoint</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EXTRA 1: LO2 with Silicon (Si) core and 220 nm height and 500 nm width </vt:lpstr>
      <vt:lpstr>EXTRA 2: width dependance for Silicon core wavelegth</vt:lpstr>
      <vt:lpstr>EXTRA 3: safe radius calculation for Silicon core wavelength</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revision>469</cp:revision>
  <dcterms:created xsi:type="dcterms:W3CDTF">2025-01-27T02:46:57Z</dcterms:created>
  <dcterms:modified xsi:type="dcterms:W3CDTF">2026-03-11T07:47:24Z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